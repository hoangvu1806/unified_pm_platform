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85800" y="1143000"/>
            <a:ext cx="9875520" cy="658368"/>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Unify AI Product &amp; Design Factory</a:t>
            </a:r>
            <a:endParaRPr lang="en-US" sz="3000" dirty="0"/>
          </a:p>
        </p:txBody>
      </p:sp>
      <p:sp>
        <p:nvSpPr>
          <p:cNvPr id="3" name="Text 1"/>
          <p:cNvSpPr/>
          <p:nvPr/>
        </p:nvSpPr>
        <p:spPr>
          <a:xfrm>
            <a:off x="713232" y="1901952"/>
            <a:ext cx="9875520" cy="384048"/>
          </a:xfrm>
          <a:prstGeom prst="rect">
            <a:avLst/>
          </a:prstGeom>
          <a:noFill/>
          <a:ln/>
        </p:spPr>
        <p:txBody>
          <a:bodyPr wrap="square" lIns="0" tIns="0" rIns="0" bIns="0" rtlCol="0" anchor="ctr"/>
          <a:lstStyle/>
          <a:p>
            <a:pPr indent="0" marL="0">
              <a:buNone/>
            </a:pPr>
            <a:r>
              <a:rPr lang="en-US" sz="1400" dirty="0">
                <a:solidFill>
                  <a:srgbClr val="CBD5E1"/>
                </a:solidFill>
              </a:rPr>
              <a:t>MVP triển khai: BA Agent → Design System Agent → Feature Designer Agent → Validation Agent</a:t>
            </a:r>
            <a:endParaRPr lang="en-US" sz="1400" dirty="0"/>
          </a:p>
        </p:txBody>
      </p:sp>
      <p:sp>
        <p:nvSpPr>
          <p:cNvPr id="4" name="Text 2"/>
          <p:cNvSpPr/>
          <p:nvPr/>
        </p:nvSpPr>
        <p:spPr>
          <a:xfrm>
            <a:off x="777240" y="2971800"/>
            <a:ext cx="2194560" cy="91440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00" b="1" dirty="0">
                <a:solidFill>
                  <a:srgbClr val="2563EB"/>
                </a:solidFill>
              </a:rPr>
              <a:t>Design System</a:t>
            </a:r>
            <a:endParaRPr lang="en-US" sz="1200" dirty="0"/>
          </a:p>
          <a:p>
            <a:pPr algn="ctr" indent="0" marL="0">
              <a:buNone/>
            </a:pPr>
            <a:r>
              <a:rPr lang="en-US" sz="1200" b="1" dirty="0">
                <a:solidFill>
                  <a:srgbClr val="2563EB"/>
                </a:solidFill>
              </a:rPr>
              <a:t>chuẩn hóa trước</a:t>
            </a:r>
            <a:endParaRPr lang="en-US" sz="1200" dirty="0"/>
          </a:p>
        </p:txBody>
      </p:sp>
      <p:sp>
        <p:nvSpPr>
          <p:cNvPr id="5" name="Text 3"/>
          <p:cNvSpPr/>
          <p:nvPr/>
        </p:nvSpPr>
        <p:spPr>
          <a:xfrm>
            <a:off x="3337560" y="2971800"/>
            <a:ext cx="2194560" cy="914400"/>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200" b="1" dirty="0">
                <a:solidFill>
                  <a:srgbClr val="0F766E"/>
                </a:solidFill>
              </a:rPr>
              <a:t>User Story + BPMN</a:t>
            </a:r>
            <a:endParaRPr lang="en-US" sz="1200" dirty="0"/>
          </a:p>
          <a:p>
            <a:pPr algn="ctr" indent="0" marL="0">
              <a:buNone/>
            </a:pPr>
            <a:r>
              <a:rPr lang="en-US" sz="1200" b="1" dirty="0">
                <a:solidFill>
                  <a:srgbClr val="0F766E"/>
                </a:solidFill>
              </a:rPr>
              <a:t>rõ nghiệp vụ</a:t>
            </a:r>
            <a:endParaRPr lang="en-US" sz="1200" dirty="0"/>
          </a:p>
        </p:txBody>
      </p:sp>
      <p:sp>
        <p:nvSpPr>
          <p:cNvPr id="6" name="Text 4"/>
          <p:cNvSpPr/>
          <p:nvPr/>
        </p:nvSpPr>
        <p:spPr>
          <a:xfrm>
            <a:off x="5897880" y="2971800"/>
            <a:ext cx="2194560" cy="91440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200" b="1" dirty="0">
                <a:solidFill>
                  <a:srgbClr val="7C3AED"/>
                </a:solidFill>
              </a:rPr>
              <a:t>Penpot UI/UX</a:t>
            </a:r>
            <a:endParaRPr lang="en-US" sz="1200" dirty="0"/>
          </a:p>
          <a:p>
            <a:pPr algn="ctr" indent="0" marL="0">
              <a:buNone/>
            </a:pPr>
            <a:r>
              <a:rPr lang="en-US" sz="1200" b="1" dirty="0">
                <a:solidFill>
                  <a:srgbClr val="7C3AED"/>
                </a:solidFill>
              </a:rPr>
              <a:t>AI Draft có kiểm soát</a:t>
            </a:r>
            <a:endParaRPr lang="en-US" sz="1200" dirty="0"/>
          </a:p>
        </p:txBody>
      </p:sp>
      <p:sp>
        <p:nvSpPr>
          <p:cNvPr id="7" name="Text 5"/>
          <p:cNvSpPr/>
          <p:nvPr/>
        </p:nvSpPr>
        <p:spPr>
          <a:xfrm>
            <a:off x="8458200" y="2971800"/>
            <a:ext cx="2377440" cy="914400"/>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1200" b="1" dirty="0">
                <a:solidFill>
                  <a:srgbClr val="D97706"/>
                </a:solidFill>
              </a:rPr>
              <a:t>Validation</a:t>
            </a:r>
            <a:endParaRPr lang="en-US" sz="1200" dirty="0"/>
          </a:p>
          <a:p>
            <a:pPr algn="ctr" indent="0" marL="0">
              <a:buNone/>
            </a:pPr>
            <a:r>
              <a:rPr lang="en-US" sz="1200" b="1" dirty="0">
                <a:solidFill>
                  <a:srgbClr val="D97706"/>
                </a:solidFill>
              </a:rPr>
              <a:t>logic + UI + consistency</a:t>
            </a:r>
            <a:endParaRPr lang="en-US" sz="1200" dirty="0"/>
          </a:p>
        </p:txBody>
      </p:sp>
      <p:sp>
        <p:nvSpPr>
          <p:cNvPr id="8" name="Shape 6"/>
          <p:cNvSpPr/>
          <p:nvPr/>
        </p:nvSpPr>
        <p:spPr>
          <a:xfrm>
            <a:off x="2980944" y="3429000"/>
            <a:ext cx="329184" cy="0"/>
          </a:xfrm>
          <a:prstGeom prst="line">
            <a:avLst/>
          </a:prstGeom>
          <a:noFill/>
          <a:ln w="19050">
            <a:solidFill>
              <a:srgbClr val="94A3B8"/>
            </a:solidFill>
            <a:prstDash val="solid"/>
            <a:headEnd type="none"/>
            <a:tailEnd type="triangle"/>
          </a:ln>
        </p:spPr>
      </p:sp>
      <p:sp>
        <p:nvSpPr>
          <p:cNvPr id="9" name="Shape 7"/>
          <p:cNvSpPr/>
          <p:nvPr/>
        </p:nvSpPr>
        <p:spPr>
          <a:xfrm>
            <a:off x="5541264" y="3429000"/>
            <a:ext cx="329184" cy="0"/>
          </a:xfrm>
          <a:prstGeom prst="line">
            <a:avLst/>
          </a:prstGeom>
          <a:noFill/>
          <a:ln w="19050">
            <a:solidFill>
              <a:srgbClr val="94A3B8"/>
            </a:solidFill>
            <a:prstDash val="solid"/>
            <a:headEnd type="none"/>
            <a:tailEnd type="triangle"/>
          </a:ln>
        </p:spPr>
      </p:sp>
      <p:sp>
        <p:nvSpPr>
          <p:cNvPr id="10" name="Shape 8"/>
          <p:cNvSpPr/>
          <p:nvPr/>
        </p:nvSpPr>
        <p:spPr>
          <a:xfrm>
            <a:off x="8101584" y="3429000"/>
            <a:ext cx="329184" cy="0"/>
          </a:xfrm>
          <a:prstGeom prst="line">
            <a:avLst/>
          </a:prstGeom>
          <a:noFill/>
          <a:ln w="19050">
            <a:solidFill>
              <a:srgbClr val="94A3B8"/>
            </a:solidFill>
            <a:prstDash val="solid"/>
            <a:headEnd type="none"/>
            <a:tailEnd type="triangle"/>
          </a:ln>
        </p:spPr>
      </p:sp>
      <p:sp>
        <p:nvSpPr>
          <p:cNvPr id="11" name="Text 9"/>
          <p:cNvSpPr/>
          <p:nvPr/>
        </p:nvSpPr>
        <p:spPr>
          <a:xfrm>
            <a:off x="777240" y="4919472"/>
            <a:ext cx="9966960" cy="658368"/>
          </a:xfrm>
          <a:prstGeom prst="rect">
            <a:avLst/>
          </a:prstGeom>
          <a:noFill/>
          <a:ln/>
        </p:spPr>
        <p:txBody>
          <a:bodyPr wrap="square" lIns="0" tIns="0" rIns="0" bIns="0" rtlCol="0" anchor="ctr"/>
          <a:lstStyle/>
          <a:p>
            <a:pPr indent="0" marL="0">
              <a:buNone/>
            </a:pPr>
            <a:r>
              <a:rPr lang="en-US" sz="1300" dirty="0">
                <a:solidFill>
                  <a:srgbClr val="E2E8F0"/>
                </a:solidFill>
              </a:rPr>
              <a:t>Mục tiêu: giảm tài liệu rời rạc, chuẩn hóa đầu ra UI/UX, giúp BA/PO/Designer làm việc từng bước và có bằng chứng rõ ràng trước khi chuyển sang Dev.</a:t>
            </a:r>
            <a:endParaRPr lang="en-US" sz="1300" dirty="0"/>
          </a:p>
        </p:txBody>
      </p:sp>
      <p:sp>
        <p:nvSpPr>
          <p:cNvPr id="12" name="Text 10"/>
          <p:cNvSpPr/>
          <p:nvPr/>
        </p:nvSpPr>
        <p:spPr>
          <a:xfrm>
            <a:off x="777240" y="6172200"/>
            <a:ext cx="4572000" cy="274320"/>
          </a:xfrm>
          <a:prstGeom prst="rect">
            <a:avLst/>
          </a:prstGeom>
          <a:noFill/>
          <a:ln/>
        </p:spPr>
        <p:txBody>
          <a:bodyPr wrap="square" lIns="0" tIns="0" rIns="0" bIns="0" rtlCol="0" anchor="ctr"/>
          <a:lstStyle/>
          <a:p>
            <a:pPr indent="0" marL="0">
              <a:buNone/>
            </a:pPr>
            <a:r>
              <a:rPr lang="en-US" sz="900" dirty="0">
                <a:solidFill>
                  <a:srgbClr val="94A3B8"/>
                </a:solidFill>
              </a:rPr>
              <a:t>Phiên bản đề xuất để trình bày team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1. Phạm vi MVP cần chốt</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Tập trung vào chuỗi Product → UI/UX, chưa mở rộng sang coding, testing automation hay deploy.</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731520" y="1508760"/>
            <a:ext cx="2057400" cy="658368"/>
          </a:xfrm>
          <a:prstGeom prst="rect">
            <a:avLst/>
          </a:prstGeom>
          <a:solidFill>
            <a:srgbClr val="EEF2F7"/>
          </a:solidFill>
          <a:ln w="13970">
            <a:solidFill>
              <a:srgbClr val="CBD5E1"/>
            </a:solidFill>
          </a:ln>
        </p:spPr>
        <p:txBody>
          <a:bodyPr wrap="square" lIns="1016" tIns="1016" rIns="1016" bIns="1016" rtlCol="0" anchor="ctr">
            <a:normAutofit/>
          </a:bodyPr>
          <a:lstStyle/>
          <a:p>
            <a:pPr algn="ctr" indent="0" marL="0">
              <a:buNone/>
            </a:pPr>
            <a:r>
              <a:rPr lang="en-US" sz="1050" b="1" dirty="0">
                <a:solidFill>
                  <a:srgbClr val="182033"/>
                </a:solidFill>
              </a:rPr>
              <a:t>Input</a:t>
            </a:r>
            <a:endParaRPr lang="en-US" sz="1050" dirty="0"/>
          </a:p>
          <a:p>
            <a:pPr algn="ctr" indent="0" marL="0">
              <a:buNone/>
            </a:pPr>
            <a:r>
              <a:rPr lang="en-US" sz="1050" b="1" dirty="0">
                <a:solidFill>
                  <a:srgbClr val="182033"/>
                </a:solidFill>
              </a:rPr>
              <a:t>Feature / yêu cầu thay đổi</a:t>
            </a:r>
            <a:endParaRPr lang="en-US" sz="1050" dirty="0"/>
          </a:p>
        </p:txBody>
      </p:sp>
      <p:sp>
        <p:nvSpPr>
          <p:cNvPr id="6" name="Shape 4"/>
          <p:cNvSpPr/>
          <p:nvPr/>
        </p:nvSpPr>
        <p:spPr>
          <a:xfrm>
            <a:off x="1764792" y="2212848"/>
            <a:ext cx="0" cy="274320"/>
          </a:xfrm>
          <a:prstGeom prst="line">
            <a:avLst/>
          </a:prstGeom>
          <a:noFill/>
          <a:ln w="19050">
            <a:solidFill>
              <a:srgbClr val="5B667A"/>
            </a:solidFill>
            <a:prstDash val="solid"/>
            <a:headEnd type="none"/>
            <a:tailEnd type="triangle"/>
          </a:ln>
        </p:spPr>
      </p:sp>
      <p:sp>
        <p:nvSpPr>
          <p:cNvPr id="7" name="Text 5"/>
          <p:cNvSpPr/>
          <p:nvPr/>
        </p:nvSpPr>
        <p:spPr>
          <a:xfrm>
            <a:off x="731520" y="2542032"/>
            <a:ext cx="2057400" cy="749808"/>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050" b="1" dirty="0">
                <a:solidFill>
                  <a:srgbClr val="0F766E"/>
                </a:solidFill>
              </a:rPr>
              <a:t>BA Agent</a:t>
            </a:r>
            <a:endParaRPr lang="en-US" sz="1050" dirty="0"/>
          </a:p>
          <a:p>
            <a:pPr algn="ctr" indent="0" marL="0">
              <a:buNone/>
            </a:pPr>
            <a:r>
              <a:rPr lang="en-US" sz="1050" b="1" dirty="0">
                <a:solidFill>
                  <a:srgbClr val="0F766E"/>
                </a:solidFill>
              </a:rPr>
              <a:t>Workflow · User Story · BPMN</a:t>
            </a:r>
            <a:endParaRPr lang="en-US" sz="1050" dirty="0"/>
          </a:p>
        </p:txBody>
      </p:sp>
      <p:sp>
        <p:nvSpPr>
          <p:cNvPr id="8" name="Shape 6"/>
          <p:cNvSpPr/>
          <p:nvPr/>
        </p:nvSpPr>
        <p:spPr>
          <a:xfrm>
            <a:off x="1764792" y="3328416"/>
            <a:ext cx="0" cy="274320"/>
          </a:xfrm>
          <a:prstGeom prst="line">
            <a:avLst/>
          </a:prstGeom>
          <a:noFill/>
          <a:ln w="19050">
            <a:solidFill>
              <a:srgbClr val="5B667A"/>
            </a:solidFill>
            <a:prstDash val="solid"/>
            <a:headEnd type="none"/>
            <a:tailEnd type="triangle"/>
          </a:ln>
        </p:spPr>
      </p:sp>
      <p:sp>
        <p:nvSpPr>
          <p:cNvPr id="9" name="Text 7"/>
          <p:cNvSpPr/>
          <p:nvPr/>
        </p:nvSpPr>
        <p:spPr>
          <a:xfrm>
            <a:off x="731520" y="3657600"/>
            <a:ext cx="2057400" cy="749808"/>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050" b="1" dirty="0">
                <a:solidFill>
                  <a:srgbClr val="7C3AED"/>
                </a:solidFill>
              </a:rPr>
              <a:t>Designer Agent</a:t>
            </a:r>
            <a:endParaRPr lang="en-US" sz="1050" dirty="0"/>
          </a:p>
          <a:p>
            <a:pPr algn="ctr" indent="0" marL="0">
              <a:buNone/>
            </a:pPr>
            <a:r>
              <a:rPr lang="en-US" sz="1050" b="1" dirty="0">
                <a:solidFill>
                  <a:srgbClr val="7C3AED"/>
                </a:solidFill>
              </a:rPr>
              <a:t>Screen · Component · Prototype</a:t>
            </a:r>
            <a:endParaRPr lang="en-US" sz="1050" dirty="0"/>
          </a:p>
        </p:txBody>
      </p:sp>
      <p:sp>
        <p:nvSpPr>
          <p:cNvPr id="10" name="Shape 8"/>
          <p:cNvSpPr/>
          <p:nvPr/>
        </p:nvSpPr>
        <p:spPr>
          <a:xfrm>
            <a:off x="1764792" y="4443984"/>
            <a:ext cx="0" cy="274320"/>
          </a:xfrm>
          <a:prstGeom prst="line">
            <a:avLst/>
          </a:prstGeom>
          <a:noFill/>
          <a:ln w="19050">
            <a:solidFill>
              <a:srgbClr val="5B667A"/>
            </a:solidFill>
            <a:prstDash val="solid"/>
            <a:headEnd type="none"/>
            <a:tailEnd type="triangle"/>
          </a:ln>
        </p:spPr>
      </p:sp>
      <p:sp>
        <p:nvSpPr>
          <p:cNvPr id="11" name="Text 9"/>
          <p:cNvSpPr/>
          <p:nvPr/>
        </p:nvSpPr>
        <p:spPr>
          <a:xfrm>
            <a:off x="731520" y="4773168"/>
            <a:ext cx="2057400" cy="749808"/>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1050" b="1" dirty="0">
                <a:solidFill>
                  <a:srgbClr val="D97706"/>
                </a:solidFill>
              </a:rPr>
              <a:t>Validation Agent</a:t>
            </a:r>
            <a:endParaRPr lang="en-US" sz="1050" dirty="0"/>
          </a:p>
          <a:p>
            <a:pPr algn="ctr" indent="0" marL="0">
              <a:buNone/>
            </a:pPr>
            <a:r>
              <a:rPr lang="en-US" sz="1050" b="1" dirty="0">
                <a:solidFill>
                  <a:srgbClr val="D97706"/>
                </a:solidFill>
              </a:rPr>
              <a:t>UX · UI · Consistency</a:t>
            </a:r>
            <a:endParaRPr lang="en-US" sz="1050" dirty="0"/>
          </a:p>
        </p:txBody>
      </p:sp>
      <p:sp>
        <p:nvSpPr>
          <p:cNvPr id="12" name="Text 10"/>
          <p:cNvSpPr/>
          <p:nvPr/>
        </p:nvSpPr>
        <p:spPr>
          <a:xfrm>
            <a:off x="3337560" y="1417320"/>
            <a:ext cx="370332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2563EB"/>
                </a:solidFill>
              </a:rPr>
              <a:t>Chức năng mong đợi</a:t>
            </a:r>
            <a:endParaRPr lang="en-US" sz="1150" dirty="0"/>
          </a:p>
        </p:txBody>
      </p:sp>
      <p:sp>
        <p:nvSpPr>
          <p:cNvPr id="13" name="Text 11"/>
          <p:cNvSpPr/>
          <p:nvPr/>
        </p:nvSpPr>
        <p:spPr>
          <a:xfrm>
            <a:off x="3337560" y="1801368"/>
            <a:ext cx="3703320" cy="152704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Tạo chuẩn UI/UX trước khi thiết kế feature</a:t>
            </a:r>
            <a:endParaRPr lang="en-US" sz="920" dirty="0"/>
          </a:p>
          <a:p>
            <a:pPr indent="0" marL="0">
              <a:buNone/>
            </a:pPr>
            <a:r>
              <a:rPr lang="en-US" sz="920" dirty="0">
                <a:solidFill>
                  <a:srgbClr val="5B667A"/>
                </a:solidFill>
              </a:rPr>
              <a:t>• BA/PO tạo workflow, user story và BPMN</a:t>
            </a:r>
            <a:endParaRPr lang="en-US" sz="920" dirty="0"/>
          </a:p>
          <a:p>
            <a:pPr indent="0" marL="0">
              <a:buNone/>
            </a:pPr>
            <a:r>
              <a:rPr lang="en-US" sz="920" dirty="0">
                <a:solidFill>
                  <a:srgbClr val="5B667A"/>
                </a:solidFill>
              </a:rPr>
              <a:t>• Designer Agent tạo, sửa và nối màn hình trên Penpot</a:t>
            </a:r>
            <a:endParaRPr lang="en-US" sz="920" dirty="0"/>
          </a:p>
          <a:p>
            <a:pPr indent="0" marL="0">
              <a:buNone/>
            </a:pPr>
            <a:r>
              <a:rPr lang="en-US" sz="920" dirty="0">
                <a:solidFill>
                  <a:srgbClr val="5B667A"/>
                </a:solidFill>
              </a:rPr>
              <a:t>• Validation Agent kiểm tra độ phủ, logic UX và tính nhất quán</a:t>
            </a:r>
            <a:endParaRPr lang="en-US" sz="920" dirty="0"/>
          </a:p>
        </p:txBody>
      </p:sp>
      <p:sp>
        <p:nvSpPr>
          <p:cNvPr id="14" name="Text 12"/>
          <p:cNvSpPr/>
          <p:nvPr/>
        </p:nvSpPr>
        <p:spPr>
          <a:xfrm>
            <a:off x="7406640" y="1417320"/>
            <a:ext cx="374904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E11D48"/>
                </a:solidFill>
              </a:rPr>
              <a:t>Không làm trong MVP này</a:t>
            </a:r>
            <a:endParaRPr lang="en-US" sz="1150" dirty="0"/>
          </a:p>
        </p:txBody>
      </p:sp>
      <p:sp>
        <p:nvSpPr>
          <p:cNvPr id="15" name="Text 13"/>
          <p:cNvSpPr/>
          <p:nvPr/>
        </p:nvSpPr>
        <p:spPr>
          <a:xfrm>
            <a:off x="7406640" y="1801368"/>
            <a:ext cx="3749040" cy="152704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Không tự động sinh frontend production</a:t>
            </a:r>
            <a:endParaRPr lang="en-US" sz="920" dirty="0"/>
          </a:p>
          <a:p>
            <a:pPr indent="0" marL="0">
              <a:buNone/>
            </a:pPr>
            <a:r>
              <a:rPr lang="en-US" sz="920" dirty="0">
                <a:solidFill>
                  <a:srgbClr val="5B667A"/>
                </a:solidFill>
              </a:rPr>
              <a:t>• Không tự động deploy</a:t>
            </a:r>
            <a:endParaRPr lang="en-US" sz="920" dirty="0"/>
          </a:p>
          <a:p>
            <a:pPr indent="0" marL="0">
              <a:buNone/>
            </a:pPr>
            <a:r>
              <a:rPr lang="en-US" sz="920" dirty="0">
                <a:solidFill>
                  <a:srgbClr val="5B667A"/>
                </a:solidFill>
              </a:rPr>
              <a:t>• Không xây Knowledge Graph toàn công ty</a:t>
            </a:r>
            <a:endParaRPr lang="en-US" sz="920" dirty="0"/>
          </a:p>
          <a:p>
            <a:pPr indent="0" marL="0">
              <a:buNone/>
            </a:pPr>
            <a:r>
              <a:rPr lang="en-US" sz="920" dirty="0">
                <a:solidFill>
                  <a:srgbClr val="5B667A"/>
                </a:solidFill>
              </a:rPr>
              <a:t>• Không thay thế Huly/Penpot/Bitbucket</a:t>
            </a:r>
            <a:endParaRPr lang="en-US" sz="920" dirty="0"/>
          </a:p>
          <a:p>
            <a:pPr indent="0" marL="0">
              <a:buNone/>
            </a:pPr>
            <a:r>
              <a:rPr lang="en-US" sz="920" dirty="0">
                <a:solidFill>
                  <a:srgbClr val="5B667A"/>
                </a:solidFill>
              </a:rPr>
              <a:t>• Không cho AI sửa thiết kế đã duyệt nếu chưa có review</a:t>
            </a:r>
            <a:endParaRPr lang="en-US" sz="920" dirty="0"/>
          </a:p>
        </p:txBody>
      </p:sp>
      <p:sp>
        <p:nvSpPr>
          <p:cNvPr id="16" name="Text 14"/>
          <p:cNvSpPr/>
          <p:nvPr/>
        </p:nvSpPr>
        <p:spPr>
          <a:xfrm>
            <a:off x="3337560" y="3858768"/>
            <a:ext cx="781812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0F766E"/>
                </a:solidFill>
              </a:rPr>
              <a:t>Nguyên tắc vận hành</a:t>
            </a:r>
            <a:endParaRPr lang="en-US" sz="1150" dirty="0"/>
          </a:p>
        </p:txBody>
      </p:sp>
      <p:sp>
        <p:nvSpPr>
          <p:cNvPr id="17" name="Text 15"/>
          <p:cNvSpPr/>
          <p:nvPr/>
        </p:nvSpPr>
        <p:spPr>
          <a:xfrm>
            <a:off x="3337560" y="4242816"/>
            <a:ext cx="7818120" cy="97840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Agent được tương tác theo từng bước. Mỗi đầu ra quan trọng phải có schema, version, trạng thái và người xác nhận. Markdown chỉ là dạng hiển thị hoặc export, không phải nguồn dữ liệu chính.</a:t>
            </a:r>
            <a:endParaRPr lang="en-US" sz="920" dirty="0"/>
          </a:p>
        </p:txBody>
      </p:sp>
      <p:sp>
        <p:nvSpPr>
          <p:cNvPr id="18" name="Text 16"/>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2. Kiến trúc triển khai MVP</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Agyn và Unify là hai lớp ngang cấp: Agyn vận hành agent, Unify giữ context, trạng thái và artifact.</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4617720" y="1261872"/>
            <a:ext cx="2971800" cy="566928"/>
          </a:xfrm>
          <a:prstGeom prst="rect">
            <a:avLst/>
          </a:prstGeom>
          <a:solidFill>
            <a:srgbClr val="EEF2F7"/>
          </a:solidFill>
          <a:ln w="13970">
            <a:solidFill>
              <a:srgbClr val="CBD5E1"/>
            </a:solidFill>
          </a:ln>
        </p:spPr>
        <p:txBody>
          <a:bodyPr wrap="square" lIns="1016" tIns="1016" rIns="1016" bIns="1016" rtlCol="0" anchor="ctr">
            <a:normAutofit/>
          </a:bodyPr>
          <a:lstStyle/>
          <a:p>
            <a:pPr algn="ctr" indent="0" marL="0">
              <a:buNone/>
            </a:pPr>
            <a:r>
              <a:rPr lang="en-US" sz="1050" b="1" dirty="0">
                <a:solidFill>
                  <a:srgbClr val="182033"/>
                </a:solidFill>
              </a:rPr>
              <a:t>Người dùng</a:t>
            </a:r>
            <a:endParaRPr lang="en-US" sz="1050" dirty="0"/>
          </a:p>
          <a:p>
            <a:pPr algn="ctr" indent="0" marL="0">
              <a:buNone/>
            </a:pPr>
            <a:r>
              <a:rPr lang="en-US" sz="1050" b="1" dirty="0">
                <a:solidFill>
                  <a:srgbClr val="182033"/>
                </a:solidFill>
              </a:rPr>
              <a:t>BA · PO · UI/UX Designer</a:t>
            </a:r>
            <a:endParaRPr lang="en-US" sz="1050" dirty="0"/>
          </a:p>
        </p:txBody>
      </p:sp>
      <p:sp>
        <p:nvSpPr>
          <p:cNvPr id="6" name="Shape 4"/>
          <p:cNvSpPr/>
          <p:nvPr/>
        </p:nvSpPr>
        <p:spPr>
          <a:xfrm>
            <a:off x="6099048" y="1874520"/>
            <a:ext cx="0" cy="246888"/>
          </a:xfrm>
          <a:prstGeom prst="line">
            <a:avLst/>
          </a:prstGeom>
          <a:noFill/>
          <a:ln w="19050">
            <a:solidFill>
              <a:srgbClr val="5B667A"/>
            </a:solidFill>
            <a:prstDash val="solid"/>
            <a:headEnd type="none"/>
            <a:tailEnd type="triangle"/>
          </a:ln>
        </p:spPr>
      </p:sp>
      <p:sp>
        <p:nvSpPr>
          <p:cNvPr id="7" name="Text 5"/>
          <p:cNvSpPr/>
          <p:nvPr/>
        </p:nvSpPr>
        <p:spPr>
          <a:xfrm>
            <a:off x="4160520" y="2176272"/>
            <a:ext cx="3886200" cy="786384"/>
          </a:xfrm>
          <a:prstGeom prst="rect">
            <a:avLst/>
          </a:prstGeom>
          <a:solidFill>
            <a:srgbClr val="E0E7FF"/>
          </a:solidFill>
          <a:ln w="13970">
            <a:solidFill>
              <a:srgbClr val="4F46E5"/>
            </a:solidFill>
          </a:ln>
        </p:spPr>
        <p:txBody>
          <a:bodyPr wrap="square" lIns="1016" tIns="1016" rIns="1016" bIns="1016" rtlCol="0" anchor="ctr">
            <a:normAutofit/>
          </a:bodyPr>
          <a:lstStyle/>
          <a:p>
            <a:pPr algn="ctr" indent="0" marL="0">
              <a:buNone/>
            </a:pPr>
            <a:r>
              <a:rPr lang="en-US" sz="1000" b="1" dirty="0">
                <a:solidFill>
                  <a:srgbClr val="4F46E5"/>
                </a:solidFill>
              </a:rPr>
              <a:t>Agyn Chat &amp; Agent Runtime</a:t>
            </a:r>
            <a:endParaRPr lang="en-US" sz="1000" dirty="0"/>
          </a:p>
          <a:p>
            <a:pPr algn="ctr" indent="0" marL="0">
              <a:buNone/>
            </a:pPr>
            <a:r>
              <a:rPr lang="en-US" sz="1000" b="1" dirty="0">
                <a:solidFill>
                  <a:srgbClr val="4F46E5"/>
                </a:solidFill>
              </a:rPr>
              <a:t>Chat · Thread · Model · Skill · MCP · Trace</a:t>
            </a:r>
            <a:endParaRPr lang="en-US" sz="1000" dirty="0"/>
          </a:p>
        </p:txBody>
      </p:sp>
      <p:sp>
        <p:nvSpPr>
          <p:cNvPr id="8" name="Shape 6"/>
          <p:cNvSpPr/>
          <p:nvPr/>
        </p:nvSpPr>
        <p:spPr>
          <a:xfrm>
            <a:off x="6099048" y="2999232"/>
            <a:ext cx="0" cy="228600"/>
          </a:xfrm>
          <a:prstGeom prst="line">
            <a:avLst/>
          </a:prstGeom>
          <a:noFill/>
          <a:ln w="19050">
            <a:solidFill>
              <a:srgbClr val="5B667A"/>
            </a:solidFill>
            <a:prstDash val="solid"/>
            <a:headEnd type="none"/>
            <a:tailEnd type="triangle"/>
          </a:ln>
        </p:spPr>
      </p:sp>
      <p:sp>
        <p:nvSpPr>
          <p:cNvPr id="9" name="Text 7"/>
          <p:cNvSpPr/>
          <p:nvPr/>
        </p:nvSpPr>
        <p:spPr>
          <a:xfrm>
            <a:off x="3977640" y="3273552"/>
            <a:ext cx="4251960" cy="877824"/>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000" b="1" dirty="0">
                <a:solidFill>
                  <a:srgbClr val="2563EB"/>
                </a:solidFill>
              </a:rPr>
              <a:t>Unify Design Factory Core</a:t>
            </a:r>
            <a:endParaRPr lang="en-US" sz="1000" dirty="0"/>
          </a:p>
          <a:p>
            <a:pPr algn="ctr" indent="0" marL="0">
              <a:buNone/>
            </a:pPr>
            <a:r>
              <a:rPr lang="en-US" sz="1000" b="1" dirty="0">
                <a:solidFill>
                  <a:srgbClr val="2563EB"/>
                </a:solidFill>
              </a:rPr>
              <a:t>Design Session · Artifact · Version · Permission · Context</a:t>
            </a:r>
            <a:endParaRPr lang="en-US" sz="1000" dirty="0"/>
          </a:p>
        </p:txBody>
      </p:sp>
      <p:sp>
        <p:nvSpPr>
          <p:cNvPr id="10" name="Shape 8"/>
          <p:cNvSpPr/>
          <p:nvPr/>
        </p:nvSpPr>
        <p:spPr>
          <a:xfrm>
            <a:off x="6099048" y="4187952"/>
            <a:ext cx="0" cy="228600"/>
          </a:xfrm>
          <a:prstGeom prst="line">
            <a:avLst/>
          </a:prstGeom>
          <a:noFill/>
          <a:ln w="19050">
            <a:solidFill>
              <a:srgbClr val="5B667A"/>
            </a:solidFill>
            <a:prstDash val="solid"/>
            <a:headEnd type="none"/>
            <a:tailEnd type="triangle"/>
          </a:ln>
        </p:spPr>
      </p:sp>
      <p:sp>
        <p:nvSpPr>
          <p:cNvPr id="11" name="Text 9"/>
          <p:cNvSpPr/>
          <p:nvPr/>
        </p:nvSpPr>
        <p:spPr>
          <a:xfrm>
            <a:off x="822960" y="4608576"/>
            <a:ext cx="2103120" cy="713232"/>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950" b="1" dirty="0">
                <a:solidFill>
                  <a:srgbClr val="16A34A"/>
                </a:solidFill>
              </a:rPr>
              <a:t>Huly</a:t>
            </a:r>
            <a:endParaRPr lang="en-US" sz="950" dirty="0"/>
          </a:p>
          <a:p>
            <a:pPr algn="ctr" indent="0" marL="0">
              <a:buNone/>
            </a:pPr>
            <a:r>
              <a:rPr lang="en-US" sz="950" b="1" dirty="0">
                <a:solidFill>
                  <a:srgbClr val="16A34A"/>
                </a:solidFill>
              </a:rPr>
              <a:t>Feature / Task / Review</a:t>
            </a:r>
            <a:endParaRPr lang="en-US" sz="950" dirty="0"/>
          </a:p>
        </p:txBody>
      </p:sp>
      <p:sp>
        <p:nvSpPr>
          <p:cNvPr id="12" name="Text 10"/>
          <p:cNvSpPr/>
          <p:nvPr/>
        </p:nvSpPr>
        <p:spPr>
          <a:xfrm>
            <a:off x="3154680" y="4608576"/>
            <a:ext cx="2103120" cy="713232"/>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950" b="1" dirty="0">
                <a:solidFill>
                  <a:srgbClr val="0F766E"/>
                </a:solidFill>
              </a:rPr>
              <a:t>BPMN Artifact</a:t>
            </a:r>
            <a:endParaRPr lang="en-US" sz="950" dirty="0"/>
          </a:p>
          <a:p>
            <a:pPr algn="ctr" indent="0" marL="0">
              <a:buNone/>
            </a:pPr>
            <a:r>
              <a:rPr lang="en-US" sz="950" b="1" dirty="0">
                <a:solidFill>
                  <a:srgbClr val="0F766E"/>
                </a:solidFill>
              </a:rPr>
              <a:t>Workflow nghiệp vụ</a:t>
            </a:r>
            <a:endParaRPr lang="en-US" sz="950" dirty="0"/>
          </a:p>
        </p:txBody>
      </p:sp>
      <p:sp>
        <p:nvSpPr>
          <p:cNvPr id="13" name="Text 11"/>
          <p:cNvSpPr/>
          <p:nvPr/>
        </p:nvSpPr>
        <p:spPr>
          <a:xfrm>
            <a:off x="5468112" y="4608576"/>
            <a:ext cx="2103120" cy="713232"/>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950" b="1" dirty="0">
                <a:solidFill>
                  <a:srgbClr val="7C3AED"/>
                </a:solidFill>
              </a:rPr>
              <a:t>Penpot</a:t>
            </a:r>
            <a:endParaRPr lang="en-US" sz="950" dirty="0"/>
          </a:p>
          <a:p>
            <a:pPr algn="ctr" indent="0" marL="0">
              <a:buNone/>
            </a:pPr>
            <a:r>
              <a:rPr lang="en-US" sz="950" b="1" dirty="0">
                <a:solidFill>
                  <a:srgbClr val="7C3AED"/>
                </a:solidFill>
              </a:rPr>
              <a:t>Design System / UI</a:t>
            </a:r>
            <a:endParaRPr lang="en-US" sz="950" dirty="0"/>
          </a:p>
        </p:txBody>
      </p:sp>
      <p:sp>
        <p:nvSpPr>
          <p:cNvPr id="14" name="Text 12"/>
          <p:cNvSpPr/>
          <p:nvPr/>
        </p:nvSpPr>
        <p:spPr>
          <a:xfrm>
            <a:off x="7790688" y="4608576"/>
            <a:ext cx="2103120" cy="713232"/>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950" b="1" dirty="0">
                <a:solidFill>
                  <a:srgbClr val="D97706"/>
                </a:solidFill>
              </a:rPr>
              <a:t>Storage</a:t>
            </a:r>
            <a:endParaRPr lang="en-US" sz="950" dirty="0"/>
          </a:p>
          <a:p>
            <a:pPr algn="ctr" indent="0" marL="0">
              <a:buNone/>
            </a:pPr>
            <a:r>
              <a:rPr lang="en-US" sz="950" b="1" dirty="0">
                <a:solidFill>
                  <a:srgbClr val="D97706"/>
                </a:solidFill>
              </a:rPr>
              <a:t>Metadata / Version</a:t>
            </a:r>
            <a:endParaRPr lang="en-US" sz="950" dirty="0"/>
          </a:p>
        </p:txBody>
      </p:sp>
      <p:sp>
        <p:nvSpPr>
          <p:cNvPr id="15" name="Text 13"/>
          <p:cNvSpPr/>
          <p:nvPr/>
        </p:nvSpPr>
        <p:spPr>
          <a:xfrm>
            <a:off x="10104120" y="4608576"/>
            <a:ext cx="1645920" cy="713232"/>
          </a:xfrm>
          <a:prstGeom prst="rect">
            <a:avLst/>
          </a:prstGeom>
          <a:solidFill>
            <a:srgbClr val="FFE4E6"/>
          </a:solidFill>
          <a:ln w="13970">
            <a:solidFill>
              <a:srgbClr val="E11D48"/>
            </a:solidFill>
          </a:ln>
        </p:spPr>
        <p:txBody>
          <a:bodyPr wrap="square" lIns="1016" tIns="1016" rIns="1016" bIns="1016" rtlCol="0" anchor="ctr">
            <a:normAutofit/>
          </a:bodyPr>
          <a:lstStyle/>
          <a:p>
            <a:pPr algn="ctr" indent="0" marL="0">
              <a:buNone/>
            </a:pPr>
            <a:r>
              <a:rPr lang="en-US" sz="920" b="1" dirty="0">
                <a:solidFill>
                  <a:srgbClr val="E11D48"/>
                </a:solidFill>
              </a:rPr>
              <a:t>Validation</a:t>
            </a:r>
            <a:endParaRPr lang="en-US" sz="920" dirty="0"/>
          </a:p>
          <a:p>
            <a:pPr algn="ctr" indent="0" marL="0">
              <a:buNone/>
            </a:pPr>
            <a:r>
              <a:rPr lang="en-US" sz="920" b="1" dirty="0">
                <a:solidFill>
                  <a:srgbClr val="E11D48"/>
                </a:solidFill>
              </a:rPr>
              <a:t>Report / Finding</a:t>
            </a:r>
            <a:endParaRPr lang="en-US" sz="920" dirty="0"/>
          </a:p>
        </p:txBody>
      </p:sp>
      <p:sp>
        <p:nvSpPr>
          <p:cNvPr id="16" name="Shape 14"/>
          <p:cNvSpPr/>
          <p:nvPr/>
        </p:nvSpPr>
        <p:spPr>
          <a:xfrm>
            <a:off x="2944368" y="4965192"/>
            <a:ext cx="182880" cy="0"/>
          </a:xfrm>
          <a:prstGeom prst="line">
            <a:avLst/>
          </a:prstGeom>
          <a:noFill/>
          <a:ln w="19050">
            <a:solidFill>
              <a:srgbClr val="94A3B8"/>
            </a:solidFill>
            <a:prstDash val="solid"/>
            <a:headEnd type="none"/>
            <a:tailEnd type="triangle"/>
          </a:ln>
        </p:spPr>
      </p:sp>
      <p:sp>
        <p:nvSpPr>
          <p:cNvPr id="17" name="Shape 15"/>
          <p:cNvSpPr/>
          <p:nvPr/>
        </p:nvSpPr>
        <p:spPr>
          <a:xfrm>
            <a:off x="5276088" y="4965192"/>
            <a:ext cx="164592" cy="0"/>
          </a:xfrm>
          <a:prstGeom prst="line">
            <a:avLst/>
          </a:prstGeom>
          <a:noFill/>
          <a:ln w="19050">
            <a:solidFill>
              <a:srgbClr val="94A3B8"/>
            </a:solidFill>
            <a:prstDash val="solid"/>
            <a:headEnd type="none"/>
            <a:tailEnd type="triangle"/>
          </a:ln>
        </p:spPr>
      </p:sp>
      <p:sp>
        <p:nvSpPr>
          <p:cNvPr id="18" name="Shape 16"/>
          <p:cNvSpPr/>
          <p:nvPr/>
        </p:nvSpPr>
        <p:spPr>
          <a:xfrm>
            <a:off x="7589520" y="4965192"/>
            <a:ext cx="182880" cy="0"/>
          </a:xfrm>
          <a:prstGeom prst="line">
            <a:avLst/>
          </a:prstGeom>
          <a:noFill/>
          <a:ln w="19050">
            <a:solidFill>
              <a:srgbClr val="94A3B8"/>
            </a:solidFill>
            <a:prstDash val="solid"/>
            <a:headEnd type="none"/>
            <a:tailEnd type="triangle"/>
          </a:ln>
        </p:spPr>
      </p:sp>
      <p:sp>
        <p:nvSpPr>
          <p:cNvPr id="19" name="Shape 17"/>
          <p:cNvSpPr/>
          <p:nvPr/>
        </p:nvSpPr>
        <p:spPr>
          <a:xfrm>
            <a:off x="9912096" y="4965192"/>
            <a:ext cx="164592" cy="0"/>
          </a:xfrm>
          <a:prstGeom prst="line">
            <a:avLst/>
          </a:prstGeom>
          <a:noFill/>
          <a:ln w="19050">
            <a:solidFill>
              <a:srgbClr val="94A3B8"/>
            </a:solidFill>
            <a:prstDash val="solid"/>
            <a:headEnd type="none"/>
            <a:tailEnd type="triangle"/>
          </a:ln>
        </p:spPr>
      </p:sp>
      <p:sp>
        <p:nvSpPr>
          <p:cNvPr id="20" name="Text 18"/>
          <p:cNvSpPr/>
          <p:nvPr/>
        </p:nvSpPr>
        <p:spPr>
          <a:xfrm>
            <a:off x="777240" y="1444752"/>
            <a:ext cx="2377440" cy="310896"/>
          </a:xfrm>
          <a:prstGeom prst="rect">
            <a:avLst/>
          </a:prstGeom>
          <a:solidFill>
            <a:srgbClr val="E0E7FF"/>
          </a:solidFill>
          <a:ln>
            <a:solidFill>
              <a:srgbClr val="E0E7FF"/>
            </a:solidFill>
          </a:ln>
        </p:spPr>
        <p:txBody>
          <a:bodyPr wrap="square" lIns="254" tIns="254" rIns="254" bIns="254" rtlCol="0" anchor="ctr"/>
          <a:lstStyle/>
          <a:p>
            <a:pPr algn="ctr" indent="0" marL="0">
              <a:buNone/>
            </a:pPr>
            <a:r>
              <a:rPr lang="en-US" sz="950" b="1" dirty="0">
                <a:solidFill>
                  <a:srgbClr val="4F46E5"/>
                </a:solidFill>
              </a:rPr>
              <a:t>Agyn = Agent Operations</a:t>
            </a:r>
            <a:endParaRPr lang="en-US" sz="950" dirty="0"/>
          </a:p>
        </p:txBody>
      </p:sp>
      <p:sp>
        <p:nvSpPr>
          <p:cNvPr id="21" name="Text 19"/>
          <p:cNvSpPr/>
          <p:nvPr/>
        </p:nvSpPr>
        <p:spPr>
          <a:xfrm>
            <a:off x="822960" y="1883664"/>
            <a:ext cx="2743200" cy="237744"/>
          </a:xfrm>
          <a:prstGeom prst="rect">
            <a:avLst/>
          </a:prstGeom>
          <a:noFill/>
          <a:ln/>
        </p:spPr>
        <p:txBody>
          <a:bodyPr wrap="square" lIns="0" tIns="0" rIns="0" bIns="0" rtlCol="0" anchor="ctr">
            <a:normAutofit/>
          </a:bodyPr>
          <a:lstStyle/>
          <a:p>
            <a:pPr indent="0" marL="0">
              <a:buNone/>
            </a:pPr>
            <a:r>
              <a:rPr lang="en-US" sz="1030" dirty="0">
                <a:solidFill>
                  <a:srgbClr val="182033"/>
                </a:solidFill>
              </a:rPr>
              <a:t>• Quản lý agent, model, skill, MCP và trace.</a:t>
            </a:r>
            <a:endParaRPr lang="en-US" sz="1030" dirty="0"/>
          </a:p>
        </p:txBody>
      </p:sp>
      <p:sp>
        <p:nvSpPr>
          <p:cNvPr id="22" name="Text 20"/>
          <p:cNvSpPr/>
          <p:nvPr/>
        </p:nvSpPr>
        <p:spPr>
          <a:xfrm>
            <a:off x="822960" y="2176272"/>
            <a:ext cx="2743200" cy="237744"/>
          </a:xfrm>
          <a:prstGeom prst="rect">
            <a:avLst/>
          </a:prstGeom>
          <a:noFill/>
          <a:ln/>
        </p:spPr>
        <p:txBody>
          <a:bodyPr wrap="square" lIns="0" tIns="0" rIns="0" bIns="0" rtlCol="0" anchor="ctr">
            <a:normAutofit/>
          </a:bodyPr>
          <a:lstStyle/>
          <a:p>
            <a:pPr indent="0" marL="0">
              <a:buNone/>
            </a:pPr>
            <a:r>
              <a:rPr lang="en-US" sz="1030" dirty="0">
                <a:solidFill>
                  <a:srgbClr val="182033"/>
                </a:solidFill>
              </a:rPr>
              <a:t>• Nhân viên tương tác qua chat theo từng agent.</a:t>
            </a:r>
            <a:endParaRPr lang="en-US" sz="1030" dirty="0"/>
          </a:p>
        </p:txBody>
      </p:sp>
      <p:sp>
        <p:nvSpPr>
          <p:cNvPr id="23" name="Text 21"/>
          <p:cNvSpPr/>
          <p:nvPr/>
        </p:nvSpPr>
        <p:spPr>
          <a:xfrm>
            <a:off x="8869680" y="1444752"/>
            <a:ext cx="2377440" cy="310896"/>
          </a:xfrm>
          <a:prstGeom prst="rect">
            <a:avLst/>
          </a:prstGeom>
          <a:solidFill>
            <a:srgbClr val="DBEAFE"/>
          </a:solidFill>
          <a:ln>
            <a:solidFill>
              <a:srgbClr val="DBEAFE"/>
            </a:solidFill>
          </a:ln>
        </p:spPr>
        <p:txBody>
          <a:bodyPr wrap="square" lIns="254" tIns="254" rIns="254" bIns="254" rtlCol="0" anchor="ctr"/>
          <a:lstStyle/>
          <a:p>
            <a:pPr algn="ctr" indent="0" marL="0">
              <a:buNone/>
            </a:pPr>
            <a:r>
              <a:rPr lang="en-US" sz="950" b="1" dirty="0">
                <a:solidFill>
                  <a:srgbClr val="2563EB"/>
                </a:solidFill>
              </a:rPr>
              <a:t>Unify = Business Context</a:t>
            </a:r>
            <a:endParaRPr lang="en-US" sz="950" dirty="0"/>
          </a:p>
        </p:txBody>
      </p:sp>
      <p:sp>
        <p:nvSpPr>
          <p:cNvPr id="24" name="Text 22"/>
          <p:cNvSpPr/>
          <p:nvPr/>
        </p:nvSpPr>
        <p:spPr>
          <a:xfrm>
            <a:off x="8915400" y="1883664"/>
            <a:ext cx="2743200" cy="237744"/>
          </a:xfrm>
          <a:prstGeom prst="rect">
            <a:avLst/>
          </a:prstGeom>
          <a:noFill/>
          <a:ln/>
        </p:spPr>
        <p:txBody>
          <a:bodyPr wrap="square" lIns="0" tIns="0" rIns="0" bIns="0" rtlCol="0" anchor="ctr">
            <a:normAutofit/>
          </a:bodyPr>
          <a:lstStyle/>
          <a:p>
            <a:pPr indent="0" marL="0">
              <a:buNone/>
            </a:pPr>
            <a:r>
              <a:rPr lang="en-US" sz="1030" dirty="0">
                <a:solidFill>
                  <a:srgbClr val="182033"/>
                </a:solidFill>
              </a:rPr>
              <a:t>• Giữ session, trạng thái, artifact và version.</a:t>
            </a:r>
            <a:endParaRPr lang="en-US" sz="1030" dirty="0"/>
          </a:p>
        </p:txBody>
      </p:sp>
      <p:sp>
        <p:nvSpPr>
          <p:cNvPr id="25" name="Text 23"/>
          <p:cNvSpPr/>
          <p:nvPr/>
        </p:nvSpPr>
        <p:spPr>
          <a:xfrm>
            <a:off x="8915400" y="2176272"/>
            <a:ext cx="2743200" cy="237744"/>
          </a:xfrm>
          <a:prstGeom prst="rect">
            <a:avLst/>
          </a:prstGeom>
          <a:noFill/>
          <a:ln/>
        </p:spPr>
        <p:txBody>
          <a:bodyPr wrap="square" lIns="0" tIns="0" rIns="0" bIns="0" rtlCol="0" anchor="ctr">
            <a:normAutofit/>
          </a:bodyPr>
          <a:lstStyle/>
          <a:p>
            <a:pPr indent="0" marL="0">
              <a:buNone/>
            </a:pPr>
            <a:r>
              <a:rPr lang="en-US" sz="1030" dirty="0">
                <a:solidFill>
                  <a:srgbClr val="182033"/>
                </a:solidFill>
              </a:rPr>
              <a:t>• Kiểm soát output nào được review/approved.</a:t>
            </a:r>
            <a:endParaRPr lang="en-US" sz="1030" dirty="0"/>
          </a:p>
        </p:txBody>
      </p:sp>
      <p:sp>
        <p:nvSpPr>
          <p:cNvPr id="26" name="Text 24"/>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3. Luồng chuẩn hóa từ nền tảng UI/UX đến feature</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Thiết kế feature chỉ được bắt đầu khi Design System version phù hợp đã được duyệt.</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731520" y="1298448"/>
            <a:ext cx="3246120" cy="310896"/>
          </a:xfrm>
          <a:prstGeom prst="rect">
            <a:avLst/>
          </a:prstGeom>
          <a:solidFill>
            <a:srgbClr val="DBEAFE"/>
          </a:solidFill>
          <a:ln>
            <a:solidFill>
              <a:srgbClr val="DBEAFE"/>
            </a:solidFill>
          </a:ln>
        </p:spPr>
        <p:txBody>
          <a:bodyPr wrap="square" lIns="254" tIns="254" rIns="254" bIns="254" rtlCol="0" anchor="ctr"/>
          <a:lstStyle/>
          <a:p>
            <a:pPr algn="ctr" indent="0" marL="0">
              <a:buNone/>
            </a:pPr>
            <a:r>
              <a:rPr lang="en-US" sz="950" b="1" dirty="0">
                <a:solidFill>
                  <a:srgbClr val="2563EB"/>
                </a:solidFill>
              </a:rPr>
              <a:t>Luồng 1 — Chuẩn hóa UI/UX trước</a:t>
            </a:r>
            <a:endParaRPr lang="en-US" sz="950" dirty="0"/>
          </a:p>
        </p:txBody>
      </p:sp>
      <p:sp>
        <p:nvSpPr>
          <p:cNvPr id="6" name="Text 4"/>
          <p:cNvSpPr/>
          <p:nvPr/>
        </p:nvSpPr>
        <p:spPr>
          <a:xfrm>
            <a:off x="914400" y="1783080"/>
            <a:ext cx="2834640" cy="566928"/>
          </a:xfrm>
          <a:prstGeom prst="rect">
            <a:avLst/>
          </a:prstGeom>
          <a:solidFill>
            <a:srgbClr val="EEF2F7"/>
          </a:solidFill>
          <a:ln w="13970">
            <a:solidFill>
              <a:srgbClr val="CBD5E1"/>
            </a:solidFill>
          </a:ln>
        </p:spPr>
        <p:txBody>
          <a:bodyPr wrap="square" lIns="1016" tIns="1016" rIns="1016" bIns="1016" rtlCol="0" anchor="ctr">
            <a:normAutofit/>
          </a:bodyPr>
          <a:lstStyle/>
          <a:p>
            <a:pPr algn="ctr" indent="0" marL="0">
              <a:buNone/>
            </a:pPr>
            <a:r>
              <a:rPr lang="en-US" sz="950" dirty="0">
                <a:solidFill>
                  <a:srgbClr val="182033"/>
                </a:solidFill>
              </a:rPr>
              <a:t>Thông tin sản phẩm</a:t>
            </a:r>
            <a:endParaRPr lang="en-US" sz="950" dirty="0"/>
          </a:p>
          <a:p>
            <a:pPr algn="ctr" indent="0" marL="0">
              <a:buNone/>
            </a:pPr>
            <a:r>
              <a:rPr lang="en-US" sz="950" dirty="0">
                <a:solidFill>
                  <a:srgbClr val="182033"/>
                </a:solidFill>
              </a:rPr>
              <a:t>Brand · web/mobile · đối tượng</a:t>
            </a:r>
            <a:endParaRPr lang="en-US" sz="950" dirty="0"/>
          </a:p>
        </p:txBody>
      </p:sp>
      <p:sp>
        <p:nvSpPr>
          <p:cNvPr id="7" name="Shape 5"/>
          <p:cNvSpPr/>
          <p:nvPr/>
        </p:nvSpPr>
        <p:spPr>
          <a:xfrm>
            <a:off x="2331720" y="2377440"/>
            <a:ext cx="0" cy="201168"/>
          </a:xfrm>
          <a:prstGeom prst="line">
            <a:avLst/>
          </a:prstGeom>
          <a:noFill/>
          <a:ln w="19050">
            <a:solidFill>
              <a:srgbClr val="5B667A"/>
            </a:solidFill>
            <a:prstDash val="solid"/>
            <a:headEnd type="none"/>
            <a:tailEnd type="triangle"/>
          </a:ln>
        </p:spPr>
      </p:sp>
      <p:sp>
        <p:nvSpPr>
          <p:cNvPr id="8" name="Text 6"/>
          <p:cNvSpPr/>
          <p:nvPr/>
        </p:nvSpPr>
        <p:spPr>
          <a:xfrm>
            <a:off x="914400" y="2615184"/>
            <a:ext cx="2834640" cy="566928"/>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050" b="1" dirty="0">
                <a:solidFill>
                  <a:srgbClr val="2563EB"/>
                </a:solidFill>
              </a:rPr>
              <a:t>Design System Agent</a:t>
            </a:r>
            <a:endParaRPr lang="en-US" sz="1050" dirty="0"/>
          </a:p>
        </p:txBody>
      </p:sp>
      <p:sp>
        <p:nvSpPr>
          <p:cNvPr id="9" name="Shape 7"/>
          <p:cNvSpPr/>
          <p:nvPr/>
        </p:nvSpPr>
        <p:spPr>
          <a:xfrm>
            <a:off x="2331720" y="3200400"/>
            <a:ext cx="0" cy="201168"/>
          </a:xfrm>
          <a:prstGeom prst="line">
            <a:avLst/>
          </a:prstGeom>
          <a:noFill/>
          <a:ln w="19050">
            <a:solidFill>
              <a:srgbClr val="5B667A"/>
            </a:solidFill>
            <a:prstDash val="solid"/>
            <a:headEnd type="none"/>
            <a:tailEnd type="triangle"/>
          </a:ln>
        </p:spPr>
      </p:sp>
      <p:sp>
        <p:nvSpPr>
          <p:cNvPr id="10" name="Text 8"/>
          <p:cNvSpPr/>
          <p:nvPr/>
        </p:nvSpPr>
        <p:spPr>
          <a:xfrm>
            <a:off x="914400" y="3438144"/>
            <a:ext cx="2834640" cy="566928"/>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050" b="1" dirty="0">
                <a:solidFill>
                  <a:srgbClr val="0F766E"/>
                </a:solidFill>
              </a:rPr>
              <a:t>UI/UX Standards Matrix</a:t>
            </a:r>
            <a:endParaRPr lang="en-US" sz="1050" dirty="0"/>
          </a:p>
        </p:txBody>
      </p:sp>
      <p:sp>
        <p:nvSpPr>
          <p:cNvPr id="11" name="Shape 9"/>
          <p:cNvSpPr/>
          <p:nvPr/>
        </p:nvSpPr>
        <p:spPr>
          <a:xfrm>
            <a:off x="2331720" y="4023360"/>
            <a:ext cx="0" cy="201168"/>
          </a:xfrm>
          <a:prstGeom prst="line">
            <a:avLst/>
          </a:prstGeom>
          <a:noFill/>
          <a:ln w="19050">
            <a:solidFill>
              <a:srgbClr val="5B667A"/>
            </a:solidFill>
            <a:prstDash val="solid"/>
            <a:headEnd type="none"/>
            <a:tailEnd type="triangle"/>
          </a:ln>
        </p:spPr>
      </p:sp>
      <p:sp>
        <p:nvSpPr>
          <p:cNvPr id="12" name="Text 10"/>
          <p:cNvSpPr/>
          <p:nvPr/>
        </p:nvSpPr>
        <p:spPr>
          <a:xfrm>
            <a:off x="914400" y="4261104"/>
            <a:ext cx="2834640" cy="68580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950" b="1" dirty="0">
                <a:solidFill>
                  <a:srgbClr val="7C3AED"/>
                </a:solidFill>
              </a:rPr>
              <a:t>Penpot Design System</a:t>
            </a:r>
            <a:endParaRPr lang="en-US" sz="950" dirty="0"/>
          </a:p>
          <a:p>
            <a:pPr algn="ctr" indent="0" marL="0">
              <a:buNone/>
            </a:pPr>
            <a:r>
              <a:rPr lang="en-US" sz="950" b="1" dirty="0">
                <a:solidFill>
                  <a:srgbClr val="7C3AED"/>
                </a:solidFill>
              </a:rPr>
              <a:t>Token · Component · Pattern</a:t>
            </a:r>
            <a:endParaRPr lang="en-US" sz="950" dirty="0"/>
          </a:p>
        </p:txBody>
      </p:sp>
      <p:sp>
        <p:nvSpPr>
          <p:cNvPr id="13" name="Shape 11"/>
          <p:cNvSpPr/>
          <p:nvPr/>
        </p:nvSpPr>
        <p:spPr>
          <a:xfrm>
            <a:off x="2331720" y="4983480"/>
            <a:ext cx="0" cy="201168"/>
          </a:xfrm>
          <a:prstGeom prst="line">
            <a:avLst/>
          </a:prstGeom>
          <a:noFill/>
          <a:ln w="19050">
            <a:solidFill>
              <a:srgbClr val="5B667A"/>
            </a:solidFill>
            <a:prstDash val="solid"/>
            <a:headEnd type="none"/>
            <a:tailEnd type="triangle"/>
          </a:ln>
        </p:spPr>
      </p:sp>
      <p:sp>
        <p:nvSpPr>
          <p:cNvPr id="14" name="Text 12"/>
          <p:cNvSpPr/>
          <p:nvPr/>
        </p:nvSpPr>
        <p:spPr>
          <a:xfrm>
            <a:off x="914400" y="5230368"/>
            <a:ext cx="2834640" cy="621792"/>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950" b="1" dirty="0">
                <a:solidFill>
                  <a:srgbClr val="16A34A"/>
                </a:solidFill>
              </a:rPr>
              <a:t>UI/UX Lead Review</a:t>
            </a:r>
            <a:endParaRPr lang="en-US" sz="950" dirty="0"/>
          </a:p>
          <a:p>
            <a:pPr algn="ctr" indent="0" marL="0">
              <a:buNone/>
            </a:pPr>
            <a:r>
              <a:rPr lang="en-US" sz="950" b="1" dirty="0">
                <a:solidFill>
                  <a:srgbClr val="16A34A"/>
                </a:solidFill>
              </a:rPr>
              <a:t>Approved v1.0</a:t>
            </a:r>
            <a:endParaRPr lang="en-US" sz="950" dirty="0"/>
          </a:p>
        </p:txBody>
      </p:sp>
      <p:sp>
        <p:nvSpPr>
          <p:cNvPr id="15" name="Text 13"/>
          <p:cNvSpPr/>
          <p:nvPr/>
        </p:nvSpPr>
        <p:spPr>
          <a:xfrm>
            <a:off x="4572000" y="1298448"/>
            <a:ext cx="3017520" cy="310896"/>
          </a:xfrm>
          <a:prstGeom prst="rect">
            <a:avLst/>
          </a:prstGeom>
          <a:solidFill>
            <a:srgbClr val="EDE9FE"/>
          </a:solidFill>
          <a:ln>
            <a:solidFill>
              <a:srgbClr val="EDE9FE"/>
            </a:solidFill>
          </a:ln>
        </p:spPr>
        <p:txBody>
          <a:bodyPr wrap="square" lIns="254" tIns="254" rIns="254" bIns="254" rtlCol="0" anchor="ctr"/>
          <a:lstStyle/>
          <a:p>
            <a:pPr algn="ctr" indent="0" marL="0">
              <a:buNone/>
            </a:pPr>
            <a:r>
              <a:rPr lang="en-US" sz="950" b="1" dirty="0">
                <a:solidFill>
                  <a:srgbClr val="7C3AED"/>
                </a:solidFill>
              </a:rPr>
              <a:t>Luồng 2 — Thiết kế feature</a:t>
            </a:r>
            <a:endParaRPr lang="en-US" sz="950" dirty="0"/>
          </a:p>
        </p:txBody>
      </p:sp>
      <p:sp>
        <p:nvSpPr>
          <p:cNvPr id="16" name="Text 14"/>
          <p:cNvSpPr/>
          <p:nvPr/>
        </p:nvSpPr>
        <p:spPr>
          <a:xfrm>
            <a:off x="4663440" y="1783080"/>
            <a:ext cx="2834640" cy="566928"/>
          </a:xfrm>
          <a:prstGeom prst="rect">
            <a:avLst/>
          </a:prstGeom>
          <a:solidFill>
            <a:srgbClr val="EEF2F7"/>
          </a:solidFill>
          <a:ln w="13970">
            <a:solidFill>
              <a:srgbClr val="CBD5E1"/>
            </a:solidFill>
          </a:ln>
        </p:spPr>
        <p:txBody>
          <a:bodyPr wrap="square" lIns="1016" tIns="1016" rIns="1016" bIns="1016" rtlCol="0" anchor="ctr">
            <a:normAutofit/>
          </a:bodyPr>
          <a:lstStyle/>
          <a:p>
            <a:pPr algn="ctr" indent="0" marL="0">
              <a:buNone/>
            </a:pPr>
            <a:r>
              <a:rPr lang="en-US" sz="950" dirty="0">
                <a:solidFill>
                  <a:srgbClr val="182033"/>
                </a:solidFill>
              </a:rPr>
              <a:t>Feature / yêu cầu thay đổi</a:t>
            </a:r>
            <a:endParaRPr lang="en-US" sz="950" dirty="0"/>
          </a:p>
        </p:txBody>
      </p:sp>
      <p:sp>
        <p:nvSpPr>
          <p:cNvPr id="17" name="Shape 15"/>
          <p:cNvSpPr/>
          <p:nvPr/>
        </p:nvSpPr>
        <p:spPr>
          <a:xfrm>
            <a:off x="6080760" y="2377440"/>
            <a:ext cx="0" cy="201168"/>
          </a:xfrm>
          <a:prstGeom prst="line">
            <a:avLst/>
          </a:prstGeom>
          <a:noFill/>
          <a:ln w="19050">
            <a:solidFill>
              <a:srgbClr val="5B667A"/>
            </a:solidFill>
            <a:prstDash val="solid"/>
            <a:headEnd type="none"/>
            <a:tailEnd type="triangle"/>
          </a:ln>
        </p:spPr>
      </p:sp>
      <p:sp>
        <p:nvSpPr>
          <p:cNvPr id="18" name="Text 16"/>
          <p:cNvSpPr/>
          <p:nvPr/>
        </p:nvSpPr>
        <p:spPr>
          <a:xfrm>
            <a:off x="4663440" y="2615184"/>
            <a:ext cx="2834640" cy="685800"/>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950" b="1" dirty="0">
                <a:solidFill>
                  <a:srgbClr val="0F766E"/>
                </a:solidFill>
              </a:rPr>
              <a:t>BA Agent</a:t>
            </a:r>
            <a:endParaRPr lang="en-US" sz="950" dirty="0"/>
          </a:p>
          <a:p>
            <a:pPr algn="ctr" indent="0" marL="0">
              <a:buNone/>
            </a:pPr>
            <a:r>
              <a:rPr lang="en-US" sz="950" b="1" dirty="0">
                <a:solidFill>
                  <a:srgbClr val="0F766E"/>
                </a:solidFill>
              </a:rPr>
              <a:t>Workflow · User Story · BPMN</a:t>
            </a:r>
            <a:endParaRPr lang="en-US" sz="950" dirty="0"/>
          </a:p>
        </p:txBody>
      </p:sp>
      <p:sp>
        <p:nvSpPr>
          <p:cNvPr id="19" name="Shape 17"/>
          <p:cNvSpPr/>
          <p:nvPr/>
        </p:nvSpPr>
        <p:spPr>
          <a:xfrm>
            <a:off x="6080760" y="3337560"/>
            <a:ext cx="0" cy="201168"/>
          </a:xfrm>
          <a:prstGeom prst="line">
            <a:avLst/>
          </a:prstGeom>
          <a:noFill/>
          <a:ln w="19050">
            <a:solidFill>
              <a:srgbClr val="5B667A"/>
            </a:solidFill>
            <a:prstDash val="solid"/>
            <a:headEnd type="none"/>
            <a:tailEnd type="triangle"/>
          </a:ln>
        </p:spPr>
      </p:sp>
      <p:sp>
        <p:nvSpPr>
          <p:cNvPr id="20" name="Text 18"/>
          <p:cNvSpPr/>
          <p:nvPr/>
        </p:nvSpPr>
        <p:spPr>
          <a:xfrm>
            <a:off x="4663440" y="3575304"/>
            <a:ext cx="2834640" cy="68580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950" b="1" dirty="0">
                <a:solidFill>
                  <a:srgbClr val="7C3AED"/>
                </a:solidFill>
              </a:rPr>
              <a:t>Feature Designer Agent</a:t>
            </a:r>
            <a:endParaRPr lang="en-US" sz="950" dirty="0"/>
          </a:p>
          <a:p>
            <a:pPr algn="ctr" indent="0" marL="0">
              <a:buNone/>
            </a:pPr>
            <a:r>
              <a:rPr lang="en-US" sz="950" b="1" dirty="0">
                <a:solidFill>
                  <a:srgbClr val="7C3AED"/>
                </a:solidFill>
              </a:rPr>
              <a:t>Screen · Component Mapping</a:t>
            </a:r>
            <a:endParaRPr lang="en-US" sz="950" dirty="0"/>
          </a:p>
        </p:txBody>
      </p:sp>
      <p:sp>
        <p:nvSpPr>
          <p:cNvPr id="21" name="Shape 19"/>
          <p:cNvSpPr/>
          <p:nvPr/>
        </p:nvSpPr>
        <p:spPr>
          <a:xfrm>
            <a:off x="6080760" y="4297680"/>
            <a:ext cx="0" cy="201168"/>
          </a:xfrm>
          <a:prstGeom prst="line">
            <a:avLst/>
          </a:prstGeom>
          <a:noFill/>
          <a:ln w="19050">
            <a:solidFill>
              <a:srgbClr val="5B667A"/>
            </a:solidFill>
            <a:prstDash val="solid"/>
            <a:headEnd type="none"/>
            <a:tailEnd type="triangle"/>
          </a:ln>
        </p:spPr>
      </p:sp>
      <p:sp>
        <p:nvSpPr>
          <p:cNvPr id="22" name="Text 20"/>
          <p:cNvSpPr/>
          <p:nvPr/>
        </p:nvSpPr>
        <p:spPr>
          <a:xfrm>
            <a:off x="4663440" y="4535424"/>
            <a:ext cx="2834640" cy="685800"/>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950" b="1" dirty="0">
                <a:solidFill>
                  <a:srgbClr val="D97706"/>
                </a:solidFill>
              </a:rPr>
              <a:t>Penpot AI Draft</a:t>
            </a:r>
            <a:endParaRPr lang="en-US" sz="950" dirty="0"/>
          </a:p>
          <a:p>
            <a:pPr algn="ctr" indent="0" marL="0">
              <a:buNone/>
            </a:pPr>
            <a:r>
              <a:rPr lang="en-US" sz="950" b="1" dirty="0">
                <a:solidFill>
                  <a:srgbClr val="D97706"/>
                </a:solidFill>
              </a:rPr>
              <a:t>Màn hình + Prototype</a:t>
            </a:r>
            <a:endParaRPr lang="en-US" sz="950" dirty="0"/>
          </a:p>
        </p:txBody>
      </p:sp>
      <p:sp>
        <p:nvSpPr>
          <p:cNvPr id="23" name="Shape 21"/>
          <p:cNvSpPr/>
          <p:nvPr/>
        </p:nvSpPr>
        <p:spPr>
          <a:xfrm>
            <a:off x="6080760" y="5257800"/>
            <a:ext cx="0" cy="201168"/>
          </a:xfrm>
          <a:prstGeom prst="line">
            <a:avLst/>
          </a:prstGeom>
          <a:noFill/>
          <a:ln w="19050">
            <a:solidFill>
              <a:srgbClr val="5B667A"/>
            </a:solidFill>
            <a:prstDash val="solid"/>
            <a:headEnd type="none"/>
            <a:tailEnd type="triangle"/>
          </a:ln>
        </p:spPr>
      </p:sp>
      <p:sp>
        <p:nvSpPr>
          <p:cNvPr id="24" name="Text 22"/>
          <p:cNvSpPr/>
          <p:nvPr/>
        </p:nvSpPr>
        <p:spPr>
          <a:xfrm>
            <a:off x="4663440" y="5495544"/>
            <a:ext cx="2834640" cy="621792"/>
          </a:xfrm>
          <a:prstGeom prst="rect">
            <a:avLst/>
          </a:prstGeom>
          <a:solidFill>
            <a:srgbClr val="FFE4E6"/>
          </a:solidFill>
          <a:ln w="13970">
            <a:solidFill>
              <a:srgbClr val="E11D48"/>
            </a:solidFill>
          </a:ln>
        </p:spPr>
        <p:txBody>
          <a:bodyPr wrap="square" lIns="1016" tIns="1016" rIns="1016" bIns="1016" rtlCol="0" anchor="ctr">
            <a:normAutofit/>
          </a:bodyPr>
          <a:lstStyle/>
          <a:p>
            <a:pPr algn="ctr" indent="0" marL="0">
              <a:buNone/>
            </a:pPr>
            <a:r>
              <a:rPr lang="en-US" sz="950" b="1" dirty="0">
                <a:solidFill>
                  <a:srgbClr val="E11D48"/>
                </a:solidFill>
              </a:rPr>
              <a:t>Validation Agent</a:t>
            </a:r>
            <a:endParaRPr lang="en-US" sz="950" dirty="0"/>
          </a:p>
          <a:p>
            <a:pPr algn="ctr" indent="0" marL="0">
              <a:buNone/>
            </a:pPr>
            <a:r>
              <a:rPr lang="en-US" sz="950" b="1" dirty="0">
                <a:solidFill>
                  <a:srgbClr val="E11D48"/>
                </a:solidFill>
              </a:rPr>
              <a:t>Logic + UI + Consistency</a:t>
            </a:r>
            <a:endParaRPr lang="en-US" sz="950" dirty="0"/>
          </a:p>
        </p:txBody>
      </p:sp>
      <p:sp>
        <p:nvSpPr>
          <p:cNvPr id="25" name="Text 23"/>
          <p:cNvSpPr/>
          <p:nvPr/>
        </p:nvSpPr>
        <p:spPr>
          <a:xfrm>
            <a:off x="8412480" y="1298448"/>
            <a:ext cx="3063240" cy="310896"/>
          </a:xfrm>
          <a:prstGeom prst="rect">
            <a:avLst/>
          </a:prstGeom>
          <a:solidFill>
            <a:srgbClr val="FEF3C7"/>
          </a:solidFill>
          <a:ln>
            <a:solidFill>
              <a:srgbClr val="FEF3C7"/>
            </a:solidFill>
          </a:ln>
        </p:spPr>
        <p:txBody>
          <a:bodyPr wrap="square" lIns="254" tIns="254" rIns="254" bIns="254" rtlCol="0" anchor="ctr"/>
          <a:lstStyle/>
          <a:p>
            <a:pPr algn="ctr" indent="0" marL="0">
              <a:buNone/>
            </a:pPr>
            <a:r>
              <a:rPr lang="en-US" sz="950" b="1" dirty="0">
                <a:solidFill>
                  <a:srgbClr val="D97706"/>
                </a:solidFill>
              </a:rPr>
              <a:t>Luồng 3 — Khi thiếu component/pattern</a:t>
            </a:r>
            <a:endParaRPr lang="en-US" sz="950" dirty="0"/>
          </a:p>
        </p:txBody>
      </p:sp>
      <p:sp>
        <p:nvSpPr>
          <p:cNvPr id="26" name="Text 24"/>
          <p:cNvSpPr/>
          <p:nvPr/>
        </p:nvSpPr>
        <p:spPr>
          <a:xfrm>
            <a:off x="8503920" y="1874520"/>
            <a:ext cx="2788920" cy="566928"/>
          </a:xfrm>
          <a:prstGeom prst="rect">
            <a:avLst/>
          </a:prstGeom>
          <a:solidFill>
            <a:srgbClr val="EEF2F7"/>
          </a:solidFill>
          <a:ln w="13970">
            <a:solidFill>
              <a:srgbClr val="CBD5E1"/>
            </a:solidFill>
          </a:ln>
        </p:spPr>
        <p:txBody>
          <a:bodyPr wrap="square" lIns="1016" tIns="1016" rIns="1016" bIns="1016" rtlCol="0" anchor="ctr">
            <a:normAutofit/>
          </a:bodyPr>
          <a:lstStyle/>
          <a:p>
            <a:pPr algn="ctr" indent="0" marL="0">
              <a:buNone/>
            </a:pPr>
            <a:r>
              <a:rPr lang="en-US" sz="950" dirty="0">
                <a:solidFill>
                  <a:srgbClr val="182033"/>
                </a:solidFill>
              </a:rPr>
              <a:t>Phát hiện thiếu component</a:t>
            </a:r>
            <a:endParaRPr lang="en-US" sz="950" dirty="0"/>
          </a:p>
        </p:txBody>
      </p:sp>
      <p:sp>
        <p:nvSpPr>
          <p:cNvPr id="27" name="Shape 25"/>
          <p:cNvSpPr/>
          <p:nvPr/>
        </p:nvSpPr>
        <p:spPr>
          <a:xfrm>
            <a:off x="9893808" y="2468880"/>
            <a:ext cx="0" cy="201168"/>
          </a:xfrm>
          <a:prstGeom prst="line">
            <a:avLst/>
          </a:prstGeom>
          <a:noFill/>
          <a:ln w="19050">
            <a:solidFill>
              <a:srgbClr val="5B667A"/>
            </a:solidFill>
            <a:prstDash val="solid"/>
            <a:headEnd type="none"/>
            <a:tailEnd type="triangle"/>
          </a:ln>
        </p:spPr>
      </p:sp>
      <p:sp>
        <p:nvSpPr>
          <p:cNvPr id="28" name="Text 26"/>
          <p:cNvSpPr/>
          <p:nvPr/>
        </p:nvSpPr>
        <p:spPr>
          <a:xfrm>
            <a:off x="8503920" y="2706624"/>
            <a:ext cx="2788920" cy="566928"/>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950" b="1" dirty="0">
                <a:solidFill>
                  <a:srgbClr val="D97706"/>
                </a:solidFill>
              </a:rPr>
              <a:t>Design System Change Proposal</a:t>
            </a:r>
            <a:endParaRPr lang="en-US" sz="950" dirty="0"/>
          </a:p>
        </p:txBody>
      </p:sp>
      <p:sp>
        <p:nvSpPr>
          <p:cNvPr id="29" name="Shape 27"/>
          <p:cNvSpPr/>
          <p:nvPr/>
        </p:nvSpPr>
        <p:spPr>
          <a:xfrm>
            <a:off x="9893808" y="3291840"/>
            <a:ext cx="0" cy="201168"/>
          </a:xfrm>
          <a:prstGeom prst="line">
            <a:avLst/>
          </a:prstGeom>
          <a:noFill/>
          <a:ln w="19050">
            <a:solidFill>
              <a:srgbClr val="5B667A"/>
            </a:solidFill>
            <a:prstDash val="solid"/>
            <a:headEnd type="none"/>
            <a:tailEnd type="triangle"/>
          </a:ln>
        </p:spPr>
      </p:sp>
      <p:sp>
        <p:nvSpPr>
          <p:cNvPr id="30" name="Text 28"/>
          <p:cNvSpPr/>
          <p:nvPr/>
        </p:nvSpPr>
        <p:spPr>
          <a:xfrm>
            <a:off x="8503920" y="3529584"/>
            <a:ext cx="2788920" cy="68580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920" b="1" dirty="0">
                <a:solidFill>
                  <a:srgbClr val="2563EB"/>
                </a:solidFill>
              </a:rPr>
              <a:t>UI/UX Lead + Frontend Lead Review</a:t>
            </a:r>
            <a:endParaRPr lang="en-US" sz="920" dirty="0"/>
          </a:p>
        </p:txBody>
      </p:sp>
      <p:sp>
        <p:nvSpPr>
          <p:cNvPr id="31" name="Shape 29"/>
          <p:cNvSpPr/>
          <p:nvPr/>
        </p:nvSpPr>
        <p:spPr>
          <a:xfrm>
            <a:off x="9893808" y="4251960"/>
            <a:ext cx="0" cy="201168"/>
          </a:xfrm>
          <a:prstGeom prst="line">
            <a:avLst/>
          </a:prstGeom>
          <a:noFill/>
          <a:ln w="19050">
            <a:solidFill>
              <a:srgbClr val="5B667A"/>
            </a:solidFill>
            <a:prstDash val="solid"/>
            <a:headEnd type="none"/>
            <a:tailEnd type="triangle"/>
          </a:ln>
        </p:spPr>
      </p:sp>
      <p:sp>
        <p:nvSpPr>
          <p:cNvPr id="32" name="Text 30"/>
          <p:cNvSpPr/>
          <p:nvPr/>
        </p:nvSpPr>
        <p:spPr>
          <a:xfrm>
            <a:off x="8503920" y="4489704"/>
            <a:ext cx="2788920" cy="685800"/>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920" b="1" dirty="0">
                <a:solidFill>
                  <a:srgbClr val="16A34A"/>
                </a:solidFill>
              </a:rPr>
              <a:t>Cập nhật Design System version mới</a:t>
            </a:r>
            <a:endParaRPr lang="en-US" sz="920" dirty="0"/>
          </a:p>
        </p:txBody>
      </p:sp>
      <p:sp>
        <p:nvSpPr>
          <p:cNvPr id="33" name="Text 31"/>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4. Design System Agent: tạo bảng chuẩn hóa UI/UX trước</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Đây là đầu vào nền tảng cho toàn bộ thiết kế feature sau này.</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731520" y="1325880"/>
            <a:ext cx="306324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2563EB"/>
                </a:solidFill>
              </a:rPr>
              <a:t>Input cần có</a:t>
            </a:r>
            <a:endParaRPr lang="en-US" sz="1150" dirty="0"/>
          </a:p>
        </p:txBody>
      </p:sp>
      <p:sp>
        <p:nvSpPr>
          <p:cNvPr id="6" name="Text 4"/>
          <p:cNvSpPr/>
          <p:nvPr/>
        </p:nvSpPr>
        <p:spPr>
          <a:xfrm>
            <a:off x="731520" y="1709928"/>
            <a:ext cx="3063240" cy="157276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Loại sản phẩm, nền tảng web/mobile</a:t>
            </a:r>
            <a:endParaRPr lang="en-US" sz="920" dirty="0"/>
          </a:p>
          <a:p>
            <a:pPr indent="0" marL="0">
              <a:buNone/>
            </a:pPr>
            <a:r>
              <a:rPr lang="en-US" sz="920" dirty="0">
                <a:solidFill>
                  <a:srgbClr val="5B667A"/>
                </a:solidFill>
              </a:rPr>
              <a:t>• Brand guideline hoặc style mong muốn</a:t>
            </a:r>
            <a:endParaRPr lang="en-US" sz="920" dirty="0"/>
          </a:p>
          <a:p>
            <a:pPr indent="0" marL="0">
              <a:buNone/>
            </a:pPr>
            <a:r>
              <a:rPr lang="en-US" sz="920" dirty="0">
                <a:solidFill>
                  <a:srgbClr val="5B667A"/>
                </a:solidFill>
              </a:rPr>
              <a:t>• Đối tượng sử dụng và ngôn ngữ</a:t>
            </a:r>
            <a:endParaRPr lang="en-US" sz="920" dirty="0"/>
          </a:p>
          <a:p>
            <a:pPr indent="0" marL="0">
              <a:buNone/>
            </a:pPr>
            <a:r>
              <a:rPr lang="en-US" sz="920" dirty="0">
                <a:solidFill>
                  <a:srgbClr val="5B667A"/>
                </a:solidFill>
              </a:rPr>
              <a:t>• Accessibility baseline</a:t>
            </a:r>
            <a:endParaRPr lang="en-US" sz="920" dirty="0"/>
          </a:p>
          <a:p>
            <a:pPr indent="0" marL="0">
              <a:buNone/>
            </a:pPr>
            <a:r>
              <a:rPr lang="en-US" sz="920" dirty="0">
                <a:solidFill>
                  <a:srgbClr val="5B667A"/>
                </a:solidFill>
              </a:rPr>
              <a:t>• Penpot file/component hiện có</a:t>
            </a:r>
            <a:endParaRPr lang="en-US" sz="920" dirty="0"/>
          </a:p>
        </p:txBody>
      </p:sp>
      <p:sp>
        <p:nvSpPr>
          <p:cNvPr id="7" name="Text 5"/>
          <p:cNvSpPr/>
          <p:nvPr/>
        </p:nvSpPr>
        <p:spPr>
          <a:xfrm>
            <a:off x="4526280" y="1325880"/>
            <a:ext cx="306324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0F766E"/>
                </a:solidFill>
              </a:rPr>
              <a:t>Output chính</a:t>
            </a:r>
            <a:endParaRPr lang="en-US" sz="1150" dirty="0"/>
          </a:p>
        </p:txBody>
      </p:sp>
      <p:sp>
        <p:nvSpPr>
          <p:cNvPr id="8" name="Text 6"/>
          <p:cNvSpPr/>
          <p:nvPr/>
        </p:nvSpPr>
        <p:spPr>
          <a:xfrm>
            <a:off x="4526280" y="1709928"/>
            <a:ext cx="3063240" cy="157276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UI/UX Standards Matrix</a:t>
            </a:r>
            <a:endParaRPr lang="en-US" sz="920" dirty="0"/>
          </a:p>
          <a:p>
            <a:pPr indent="0" marL="0">
              <a:buNone/>
            </a:pPr>
            <a:r>
              <a:rPr lang="en-US" sz="920" dirty="0">
                <a:solidFill>
                  <a:srgbClr val="5B667A"/>
                </a:solidFill>
              </a:rPr>
              <a:t>• Design Token Matrix</a:t>
            </a:r>
            <a:endParaRPr lang="en-US" sz="920" dirty="0"/>
          </a:p>
          <a:p>
            <a:pPr indent="0" marL="0">
              <a:buNone/>
            </a:pPr>
            <a:r>
              <a:rPr lang="en-US" sz="920" dirty="0">
                <a:solidFill>
                  <a:srgbClr val="5B667A"/>
                </a:solidFill>
              </a:rPr>
              <a:t>• Component Matrix</a:t>
            </a:r>
            <a:endParaRPr lang="en-US" sz="920" dirty="0"/>
          </a:p>
          <a:p>
            <a:pPr indent="0" marL="0">
              <a:buNone/>
            </a:pPr>
            <a:r>
              <a:rPr lang="en-US" sz="920" dirty="0">
                <a:solidFill>
                  <a:srgbClr val="5B667A"/>
                </a:solidFill>
              </a:rPr>
              <a:t>• UX Pattern Matrix</a:t>
            </a:r>
            <a:endParaRPr lang="en-US" sz="920" dirty="0"/>
          </a:p>
          <a:p>
            <a:pPr indent="0" marL="0">
              <a:buNone/>
            </a:pPr>
            <a:r>
              <a:rPr lang="en-US" sz="920" dirty="0">
                <a:solidFill>
                  <a:srgbClr val="5B667A"/>
                </a:solidFill>
              </a:rPr>
              <a:t>• Content &amp; Language Matrix</a:t>
            </a:r>
            <a:endParaRPr lang="en-US" sz="920" dirty="0"/>
          </a:p>
          <a:p>
            <a:pPr indent="0" marL="0">
              <a:buNone/>
            </a:pPr>
            <a:r>
              <a:rPr lang="en-US" sz="920" dirty="0">
                <a:solidFill>
                  <a:srgbClr val="5B667A"/>
                </a:solidFill>
              </a:rPr>
              <a:t>• Penpot Design System Draft</a:t>
            </a:r>
            <a:endParaRPr lang="en-US" sz="920" dirty="0"/>
          </a:p>
        </p:txBody>
      </p:sp>
      <p:sp>
        <p:nvSpPr>
          <p:cNvPr id="9" name="Text 7"/>
          <p:cNvSpPr/>
          <p:nvPr/>
        </p:nvSpPr>
        <p:spPr>
          <a:xfrm>
            <a:off x="8321040" y="1325880"/>
            <a:ext cx="306324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7C3AED"/>
                </a:solidFill>
              </a:rPr>
              <a:t>Review bắt buộc</a:t>
            </a:r>
            <a:endParaRPr lang="en-US" sz="1150" dirty="0"/>
          </a:p>
        </p:txBody>
      </p:sp>
      <p:sp>
        <p:nvSpPr>
          <p:cNvPr id="10" name="Text 8"/>
          <p:cNvSpPr/>
          <p:nvPr/>
        </p:nvSpPr>
        <p:spPr>
          <a:xfrm>
            <a:off x="8321040" y="1709928"/>
            <a:ext cx="3063240" cy="157276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UI/UX Lead duyệt tính thẩm mỹ và logic sử dụng</a:t>
            </a:r>
            <a:endParaRPr lang="en-US" sz="920" dirty="0"/>
          </a:p>
          <a:p>
            <a:pPr indent="0" marL="0">
              <a:buNone/>
            </a:pPr>
            <a:r>
              <a:rPr lang="en-US" sz="920" dirty="0">
                <a:solidFill>
                  <a:srgbClr val="5B667A"/>
                </a:solidFill>
              </a:rPr>
              <a:t>• Frontend Lead duyệt khả năng triển khai</a:t>
            </a:r>
            <a:endParaRPr lang="en-US" sz="920" dirty="0"/>
          </a:p>
          <a:p>
            <a:pPr indent="0" marL="0">
              <a:buNone/>
            </a:pPr>
            <a:r>
              <a:rPr lang="en-US" sz="920" dirty="0">
                <a:solidFill>
                  <a:srgbClr val="5B667A"/>
                </a:solidFill>
              </a:rPr>
              <a:t>• Chỉ bản Approved mới cấp cho Feature Designer Agent</a:t>
            </a:r>
            <a:endParaRPr lang="en-US" sz="920" dirty="0"/>
          </a:p>
        </p:txBody>
      </p:sp>
      <p:sp>
        <p:nvSpPr>
          <p:cNvPr id="11" name="Text 9"/>
          <p:cNvSpPr/>
          <p:nvPr/>
        </p:nvSpPr>
        <p:spPr>
          <a:xfrm>
            <a:off x="731520" y="3749040"/>
            <a:ext cx="4114800" cy="320040"/>
          </a:xfrm>
          <a:prstGeom prst="rect">
            <a:avLst/>
          </a:prstGeom>
          <a:noFill/>
          <a:ln/>
        </p:spPr>
        <p:txBody>
          <a:bodyPr wrap="square" lIns="0" tIns="0" rIns="0" bIns="0" rtlCol="0" anchor="ctr"/>
          <a:lstStyle/>
          <a:p>
            <a:pPr indent="0" marL="0">
              <a:buNone/>
            </a:pPr>
            <a:r>
              <a:rPr lang="en-US" sz="1400" b="1" dirty="0">
                <a:solidFill>
                  <a:srgbClr val="182033"/>
                </a:solidFill>
              </a:rPr>
              <a:t>Bảng chuẩn hóa UI/UX cần có</a:t>
            </a:r>
            <a:endParaRPr lang="en-US" sz="1400" dirty="0"/>
          </a:p>
        </p:txBody>
      </p:sp>
      <p:sp>
        <p:nvSpPr>
          <p:cNvPr id="12" name="Text 10"/>
          <p:cNvSpPr/>
          <p:nvPr/>
        </p:nvSpPr>
        <p:spPr>
          <a:xfrm>
            <a:off x="731520" y="4160520"/>
            <a:ext cx="2011680" cy="310896"/>
          </a:xfrm>
          <a:prstGeom prst="rect">
            <a:avLst/>
          </a:prstGeom>
          <a:solidFill>
            <a:srgbClr val="2563EB"/>
          </a:solidFill>
          <a:ln/>
        </p:spPr>
        <p:txBody>
          <a:bodyPr wrap="square" lIns="635" tIns="635" rIns="635" bIns="635" rtlCol="0" anchor="ctr"/>
          <a:lstStyle/>
          <a:p>
            <a:pPr indent="0" marL="0">
              <a:buNone/>
            </a:pPr>
            <a:r>
              <a:rPr lang="en-US" sz="900" b="1" dirty="0">
                <a:solidFill>
                  <a:srgbClr val="FFFFFF"/>
                </a:solidFill>
              </a:rPr>
              <a:t>Nhóm chuẩn</a:t>
            </a:r>
            <a:endParaRPr lang="en-US" sz="900" dirty="0"/>
          </a:p>
        </p:txBody>
      </p:sp>
      <p:sp>
        <p:nvSpPr>
          <p:cNvPr id="13" name="Text 11"/>
          <p:cNvSpPr/>
          <p:nvPr/>
        </p:nvSpPr>
        <p:spPr>
          <a:xfrm>
            <a:off x="2743200" y="4160520"/>
            <a:ext cx="8778240" cy="310896"/>
          </a:xfrm>
          <a:prstGeom prst="rect">
            <a:avLst/>
          </a:prstGeom>
          <a:solidFill>
            <a:srgbClr val="2563EB"/>
          </a:solidFill>
          <a:ln/>
        </p:spPr>
        <p:txBody>
          <a:bodyPr wrap="square" lIns="635" tIns="635" rIns="635" bIns="635" rtlCol="0" anchor="ctr"/>
          <a:lstStyle/>
          <a:p>
            <a:pPr indent="0" marL="0">
              <a:buNone/>
            </a:pPr>
            <a:r>
              <a:rPr lang="en-US" sz="900" b="1" dirty="0">
                <a:solidFill>
                  <a:srgbClr val="FFFFFF"/>
                </a:solidFill>
              </a:rPr>
              <a:t>Nội dung</a:t>
            </a:r>
            <a:endParaRPr lang="en-US" sz="900" dirty="0"/>
          </a:p>
        </p:txBody>
      </p:sp>
      <p:sp>
        <p:nvSpPr>
          <p:cNvPr id="14" name="Text 12"/>
          <p:cNvSpPr/>
          <p:nvPr/>
        </p:nvSpPr>
        <p:spPr>
          <a:xfrm>
            <a:off x="731520" y="4471416"/>
            <a:ext cx="2011680" cy="310896"/>
          </a:xfrm>
          <a:prstGeom prst="rect">
            <a:avLst/>
          </a:prstGeom>
          <a:solidFill>
            <a:srgbClr val="FFFFFF"/>
          </a:solidFill>
          <a:ln>
            <a:solidFill>
              <a:srgbClr val="E5EAF3"/>
            </a:solidFill>
          </a:ln>
        </p:spPr>
        <p:txBody>
          <a:bodyPr wrap="square" lIns="508" tIns="508" rIns="508" bIns="508" rtlCol="0" anchor="ctr"/>
          <a:lstStyle/>
          <a:p>
            <a:pPr indent="0" marL="0">
              <a:buNone/>
            </a:pPr>
            <a:r>
              <a:rPr lang="en-US" sz="850" b="1" dirty="0">
                <a:solidFill>
                  <a:srgbClr val="182033"/>
                </a:solidFill>
              </a:rPr>
              <a:t>Design Token</a:t>
            </a:r>
            <a:endParaRPr lang="en-US" sz="850" dirty="0"/>
          </a:p>
        </p:txBody>
      </p:sp>
      <p:sp>
        <p:nvSpPr>
          <p:cNvPr id="15" name="Text 13"/>
          <p:cNvSpPr/>
          <p:nvPr/>
        </p:nvSpPr>
        <p:spPr>
          <a:xfrm>
            <a:off x="2743200" y="4471416"/>
            <a:ext cx="8778240" cy="310896"/>
          </a:xfrm>
          <a:prstGeom prst="rect">
            <a:avLst/>
          </a:prstGeom>
          <a:solidFill>
            <a:srgbClr val="FFFFFF"/>
          </a:solidFill>
          <a:ln>
            <a:solidFill>
              <a:srgbClr val="E5EAF3"/>
            </a:solidFill>
          </a:ln>
        </p:spPr>
        <p:txBody>
          <a:bodyPr wrap="square" lIns="508" tIns="508" rIns="508" bIns="508" rtlCol="0" anchor="ctr"/>
          <a:lstStyle/>
          <a:p>
            <a:pPr indent="0" marL="0">
              <a:buNone/>
            </a:pPr>
            <a:r>
              <a:rPr lang="en-US" sz="850" dirty="0">
                <a:solidFill>
                  <a:srgbClr val="5B667A"/>
                </a:solidFill>
              </a:rPr>
              <a:t>Màu, font, spacing, radius, shadow, breakpoint</a:t>
            </a:r>
            <a:endParaRPr lang="en-US" sz="850" dirty="0"/>
          </a:p>
        </p:txBody>
      </p:sp>
      <p:sp>
        <p:nvSpPr>
          <p:cNvPr id="16" name="Text 14"/>
          <p:cNvSpPr/>
          <p:nvPr/>
        </p:nvSpPr>
        <p:spPr>
          <a:xfrm>
            <a:off x="731520" y="4782312"/>
            <a:ext cx="2011680" cy="310896"/>
          </a:xfrm>
          <a:prstGeom prst="rect">
            <a:avLst/>
          </a:prstGeom>
          <a:solidFill>
            <a:srgbClr val="F2F6FB"/>
          </a:solidFill>
          <a:ln>
            <a:solidFill>
              <a:srgbClr val="E5EAF3"/>
            </a:solidFill>
          </a:ln>
        </p:spPr>
        <p:txBody>
          <a:bodyPr wrap="square" lIns="508" tIns="508" rIns="508" bIns="508" rtlCol="0" anchor="ctr"/>
          <a:lstStyle/>
          <a:p>
            <a:pPr indent="0" marL="0">
              <a:buNone/>
            </a:pPr>
            <a:r>
              <a:rPr lang="en-US" sz="850" b="1" dirty="0">
                <a:solidFill>
                  <a:srgbClr val="182033"/>
                </a:solidFill>
              </a:rPr>
              <a:t>Component</a:t>
            </a:r>
            <a:endParaRPr lang="en-US" sz="850" dirty="0"/>
          </a:p>
        </p:txBody>
      </p:sp>
      <p:sp>
        <p:nvSpPr>
          <p:cNvPr id="17" name="Text 15"/>
          <p:cNvSpPr/>
          <p:nvPr/>
        </p:nvSpPr>
        <p:spPr>
          <a:xfrm>
            <a:off x="2743200" y="4782312"/>
            <a:ext cx="8778240" cy="310896"/>
          </a:xfrm>
          <a:prstGeom prst="rect">
            <a:avLst/>
          </a:prstGeom>
          <a:solidFill>
            <a:srgbClr val="F2F6FB"/>
          </a:solidFill>
          <a:ln>
            <a:solidFill>
              <a:srgbClr val="E5EAF3"/>
            </a:solidFill>
          </a:ln>
        </p:spPr>
        <p:txBody>
          <a:bodyPr wrap="square" lIns="508" tIns="508" rIns="508" bIns="508" rtlCol="0" anchor="ctr"/>
          <a:lstStyle/>
          <a:p>
            <a:pPr indent="0" marL="0">
              <a:buNone/>
            </a:pPr>
            <a:r>
              <a:rPr lang="en-US" sz="850" dirty="0">
                <a:solidFill>
                  <a:srgbClr val="5B667A"/>
                </a:solidFill>
              </a:rPr>
              <a:t>Component, variant, state, kích thước, quy tắc dùng</a:t>
            </a:r>
            <a:endParaRPr lang="en-US" sz="850" dirty="0"/>
          </a:p>
        </p:txBody>
      </p:sp>
      <p:sp>
        <p:nvSpPr>
          <p:cNvPr id="18" name="Text 16"/>
          <p:cNvSpPr/>
          <p:nvPr/>
        </p:nvSpPr>
        <p:spPr>
          <a:xfrm>
            <a:off x="731520" y="5093208"/>
            <a:ext cx="2011680" cy="310896"/>
          </a:xfrm>
          <a:prstGeom prst="rect">
            <a:avLst/>
          </a:prstGeom>
          <a:solidFill>
            <a:srgbClr val="FFFFFF"/>
          </a:solidFill>
          <a:ln>
            <a:solidFill>
              <a:srgbClr val="E5EAF3"/>
            </a:solidFill>
          </a:ln>
        </p:spPr>
        <p:txBody>
          <a:bodyPr wrap="square" lIns="508" tIns="508" rIns="508" bIns="508" rtlCol="0" anchor="ctr"/>
          <a:lstStyle/>
          <a:p>
            <a:pPr indent="0" marL="0">
              <a:buNone/>
            </a:pPr>
            <a:r>
              <a:rPr lang="en-US" sz="850" b="1" dirty="0">
                <a:solidFill>
                  <a:srgbClr val="182033"/>
                </a:solidFill>
              </a:rPr>
              <a:t>UX Pattern</a:t>
            </a:r>
            <a:endParaRPr lang="en-US" sz="850" dirty="0"/>
          </a:p>
        </p:txBody>
      </p:sp>
      <p:sp>
        <p:nvSpPr>
          <p:cNvPr id="19" name="Text 17"/>
          <p:cNvSpPr/>
          <p:nvPr/>
        </p:nvSpPr>
        <p:spPr>
          <a:xfrm>
            <a:off x="2743200" y="5093208"/>
            <a:ext cx="8778240" cy="310896"/>
          </a:xfrm>
          <a:prstGeom prst="rect">
            <a:avLst/>
          </a:prstGeom>
          <a:solidFill>
            <a:srgbClr val="FFFFFF"/>
          </a:solidFill>
          <a:ln>
            <a:solidFill>
              <a:srgbClr val="E5EAF3"/>
            </a:solidFill>
          </a:ln>
        </p:spPr>
        <p:txBody>
          <a:bodyPr wrap="square" lIns="508" tIns="508" rIns="508" bIns="508" rtlCol="0" anchor="ctr"/>
          <a:lstStyle/>
          <a:p>
            <a:pPr indent="0" marL="0">
              <a:buNone/>
            </a:pPr>
            <a:r>
              <a:rPr lang="en-US" sz="850" dirty="0">
                <a:solidFill>
                  <a:srgbClr val="5B667A"/>
                </a:solidFill>
              </a:rPr>
              <a:t>Form, validation, confirmation, loading, error, empty state</a:t>
            </a:r>
            <a:endParaRPr lang="en-US" sz="850" dirty="0"/>
          </a:p>
        </p:txBody>
      </p:sp>
      <p:sp>
        <p:nvSpPr>
          <p:cNvPr id="20" name="Text 18"/>
          <p:cNvSpPr/>
          <p:nvPr/>
        </p:nvSpPr>
        <p:spPr>
          <a:xfrm>
            <a:off x="731520" y="5404104"/>
            <a:ext cx="2011680" cy="310896"/>
          </a:xfrm>
          <a:prstGeom prst="rect">
            <a:avLst/>
          </a:prstGeom>
          <a:solidFill>
            <a:srgbClr val="F2F6FB"/>
          </a:solidFill>
          <a:ln>
            <a:solidFill>
              <a:srgbClr val="E5EAF3"/>
            </a:solidFill>
          </a:ln>
        </p:spPr>
        <p:txBody>
          <a:bodyPr wrap="square" lIns="508" tIns="508" rIns="508" bIns="508" rtlCol="0" anchor="ctr"/>
          <a:lstStyle/>
          <a:p>
            <a:pPr indent="0" marL="0">
              <a:buNone/>
            </a:pPr>
            <a:r>
              <a:rPr lang="en-US" sz="850" b="1" dirty="0">
                <a:solidFill>
                  <a:srgbClr val="182033"/>
                </a:solidFill>
              </a:rPr>
              <a:t>Content</a:t>
            </a:r>
            <a:endParaRPr lang="en-US" sz="850" dirty="0"/>
          </a:p>
        </p:txBody>
      </p:sp>
      <p:sp>
        <p:nvSpPr>
          <p:cNvPr id="21" name="Text 19"/>
          <p:cNvSpPr/>
          <p:nvPr/>
        </p:nvSpPr>
        <p:spPr>
          <a:xfrm>
            <a:off x="2743200" y="5404104"/>
            <a:ext cx="8778240" cy="310896"/>
          </a:xfrm>
          <a:prstGeom prst="rect">
            <a:avLst/>
          </a:prstGeom>
          <a:solidFill>
            <a:srgbClr val="F2F6FB"/>
          </a:solidFill>
          <a:ln>
            <a:solidFill>
              <a:srgbClr val="E5EAF3"/>
            </a:solidFill>
          </a:ln>
        </p:spPr>
        <p:txBody>
          <a:bodyPr wrap="square" lIns="508" tIns="508" rIns="508" bIns="508" rtlCol="0" anchor="ctr"/>
          <a:lstStyle/>
          <a:p>
            <a:pPr indent="0" marL="0">
              <a:buNone/>
            </a:pPr>
            <a:r>
              <a:rPr lang="en-US" sz="850" dirty="0">
                <a:solidFill>
                  <a:srgbClr val="5B667A"/>
                </a:solidFill>
              </a:rPr>
              <a:t>Thuật ngữ, label, thông báo lỗi, ngôn ngữ hiển thị</a:t>
            </a:r>
            <a:endParaRPr lang="en-US" sz="850" dirty="0"/>
          </a:p>
        </p:txBody>
      </p:sp>
      <p:sp>
        <p:nvSpPr>
          <p:cNvPr id="22" name="Text 20"/>
          <p:cNvSpPr/>
          <p:nvPr/>
        </p:nvSpPr>
        <p:spPr>
          <a:xfrm>
            <a:off x="731520" y="5715000"/>
            <a:ext cx="2011680" cy="310896"/>
          </a:xfrm>
          <a:prstGeom prst="rect">
            <a:avLst/>
          </a:prstGeom>
          <a:solidFill>
            <a:srgbClr val="FFFFFF"/>
          </a:solidFill>
          <a:ln>
            <a:solidFill>
              <a:srgbClr val="E5EAF3"/>
            </a:solidFill>
          </a:ln>
        </p:spPr>
        <p:txBody>
          <a:bodyPr wrap="square" lIns="508" tIns="508" rIns="508" bIns="508" rtlCol="0" anchor="ctr"/>
          <a:lstStyle/>
          <a:p>
            <a:pPr indent="0" marL="0">
              <a:buNone/>
            </a:pPr>
            <a:r>
              <a:rPr lang="en-US" sz="850" b="1" dirty="0">
                <a:solidFill>
                  <a:srgbClr val="182033"/>
                </a:solidFill>
              </a:rPr>
              <a:t>Accessibility</a:t>
            </a:r>
            <a:endParaRPr lang="en-US" sz="850" dirty="0"/>
          </a:p>
        </p:txBody>
      </p:sp>
      <p:sp>
        <p:nvSpPr>
          <p:cNvPr id="23" name="Text 21"/>
          <p:cNvSpPr/>
          <p:nvPr/>
        </p:nvSpPr>
        <p:spPr>
          <a:xfrm>
            <a:off x="2743200" y="5715000"/>
            <a:ext cx="8778240" cy="310896"/>
          </a:xfrm>
          <a:prstGeom prst="rect">
            <a:avLst/>
          </a:prstGeom>
          <a:solidFill>
            <a:srgbClr val="FFFFFF"/>
          </a:solidFill>
          <a:ln>
            <a:solidFill>
              <a:srgbClr val="E5EAF3"/>
            </a:solidFill>
          </a:ln>
        </p:spPr>
        <p:txBody>
          <a:bodyPr wrap="square" lIns="508" tIns="508" rIns="508" bIns="508" rtlCol="0" anchor="ctr"/>
          <a:lstStyle/>
          <a:p>
            <a:pPr indent="0" marL="0">
              <a:buNone/>
            </a:pPr>
            <a:r>
              <a:rPr lang="en-US" sz="850" dirty="0">
                <a:solidFill>
                  <a:srgbClr val="5B667A"/>
                </a:solidFill>
              </a:rPr>
              <a:t>Contrast, keyboard, focus, vùng tương tác</a:t>
            </a:r>
            <a:endParaRPr lang="en-US" sz="850" dirty="0"/>
          </a:p>
        </p:txBody>
      </p:sp>
      <p:sp>
        <p:nvSpPr>
          <p:cNvPr id="24" name="Text 22"/>
          <p:cNvSpPr/>
          <p:nvPr/>
        </p:nvSpPr>
        <p:spPr>
          <a:xfrm>
            <a:off x="731520" y="6025896"/>
            <a:ext cx="2011680" cy="310896"/>
          </a:xfrm>
          <a:prstGeom prst="rect">
            <a:avLst/>
          </a:prstGeom>
          <a:solidFill>
            <a:srgbClr val="F2F6FB"/>
          </a:solidFill>
          <a:ln>
            <a:solidFill>
              <a:srgbClr val="E5EAF3"/>
            </a:solidFill>
          </a:ln>
        </p:spPr>
        <p:txBody>
          <a:bodyPr wrap="square" lIns="508" tIns="508" rIns="508" bIns="508" rtlCol="0" anchor="ctr"/>
          <a:lstStyle/>
          <a:p>
            <a:pPr indent="0" marL="0">
              <a:buNone/>
            </a:pPr>
            <a:r>
              <a:rPr lang="en-US" sz="850" b="1" dirty="0">
                <a:solidFill>
                  <a:srgbClr val="182033"/>
                </a:solidFill>
              </a:rPr>
              <a:t>Responsive</a:t>
            </a:r>
            <a:endParaRPr lang="en-US" sz="850" dirty="0"/>
          </a:p>
        </p:txBody>
      </p:sp>
      <p:sp>
        <p:nvSpPr>
          <p:cNvPr id="25" name="Text 23"/>
          <p:cNvSpPr/>
          <p:nvPr/>
        </p:nvSpPr>
        <p:spPr>
          <a:xfrm>
            <a:off x="2743200" y="6025896"/>
            <a:ext cx="8778240" cy="310896"/>
          </a:xfrm>
          <a:prstGeom prst="rect">
            <a:avLst/>
          </a:prstGeom>
          <a:solidFill>
            <a:srgbClr val="F2F6FB"/>
          </a:solidFill>
          <a:ln>
            <a:solidFill>
              <a:srgbClr val="E5EAF3"/>
            </a:solidFill>
          </a:ln>
        </p:spPr>
        <p:txBody>
          <a:bodyPr wrap="square" lIns="508" tIns="508" rIns="508" bIns="508" rtlCol="0" anchor="ctr"/>
          <a:lstStyle/>
          <a:p>
            <a:pPr indent="0" marL="0">
              <a:buNone/>
            </a:pPr>
            <a:r>
              <a:rPr lang="en-US" sz="850" dirty="0">
                <a:solidFill>
                  <a:srgbClr val="5B667A"/>
                </a:solidFill>
              </a:rPr>
              <a:t>Hành vi màn hình và component theo breakpoint</a:t>
            </a:r>
            <a:endParaRPr lang="en-US" sz="850" dirty="0"/>
          </a:p>
        </p:txBody>
      </p:sp>
      <p:sp>
        <p:nvSpPr>
          <p:cNvPr id="26" name="Text 24"/>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5. BA Agent: chuẩn hóa nghiệp vụ trước khi thiết kế</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Agent tương tác từng bước để tạo workflow, user story, acceptance criteria và BPMN.</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777240" y="1325880"/>
            <a:ext cx="411480" cy="41148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100" b="1" dirty="0">
                <a:solidFill>
                  <a:srgbClr val="2563EB"/>
                </a:solidFill>
              </a:rPr>
              <a:t>1</a:t>
            </a:r>
            <a:endParaRPr lang="en-US" sz="1100" dirty="0"/>
          </a:p>
        </p:txBody>
      </p:sp>
      <p:sp>
        <p:nvSpPr>
          <p:cNvPr id="6" name="Text 4"/>
          <p:cNvSpPr/>
          <p:nvPr/>
        </p:nvSpPr>
        <p:spPr>
          <a:xfrm>
            <a:off x="1298448" y="1280160"/>
            <a:ext cx="2743200" cy="512064"/>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000" b="1" dirty="0">
                <a:solidFill>
                  <a:srgbClr val="2563EB"/>
                </a:solidFill>
              </a:rPr>
              <a:t>Mục tiêu &amp; phạm vi</a:t>
            </a:r>
            <a:endParaRPr lang="en-US" sz="1000" dirty="0"/>
          </a:p>
        </p:txBody>
      </p:sp>
      <p:sp>
        <p:nvSpPr>
          <p:cNvPr id="7" name="Shape 5"/>
          <p:cNvSpPr/>
          <p:nvPr/>
        </p:nvSpPr>
        <p:spPr>
          <a:xfrm>
            <a:off x="987552" y="1755648"/>
            <a:ext cx="0" cy="274320"/>
          </a:xfrm>
          <a:prstGeom prst="line">
            <a:avLst/>
          </a:prstGeom>
          <a:noFill/>
          <a:ln w="19050">
            <a:solidFill>
              <a:srgbClr val="94A3B8"/>
            </a:solidFill>
            <a:prstDash val="solid"/>
            <a:headEnd type="none"/>
            <a:tailEnd type="triangle"/>
          </a:ln>
        </p:spPr>
      </p:sp>
      <p:sp>
        <p:nvSpPr>
          <p:cNvPr id="8" name="Text 6"/>
          <p:cNvSpPr/>
          <p:nvPr/>
        </p:nvSpPr>
        <p:spPr>
          <a:xfrm>
            <a:off x="777240" y="2075688"/>
            <a:ext cx="411480" cy="411480"/>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100" b="1" dirty="0">
                <a:solidFill>
                  <a:srgbClr val="0F766E"/>
                </a:solidFill>
              </a:rPr>
              <a:t>2</a:t>
            </a:r>
            <a:endParaRPr lang="en-US" sz="1100" dirty="0"/>
          </a:p>
        </p:txBody>
      </p:sp>
      <p:sp>
        <p:nvSpPr>
          <p:cNvPr id="9" name="Text 7"/>
          <p:cNvSpPr/>
          <p:nvPr/>
        </p:nvSpPr>
        <p:spPr>
          <a:xfrm>
            <a:off x="1298448" y="2029968"/>
            <a:ext cx="2743200" cy="512064"/>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000" b="1" dirty="0">
                <a:solidFill>
                  <a:srgbClr val="0F766E"/>
                </a:solidFill>
              </a:rPr>
              <a:t>Actor &amp; business rule</a:t>
            </a:r>
            <a:endParaRPr lang="en-US" sz="1000" dirty="0"/>
          </a:p>
        </p:txBody>
      </p:sp>
      <p:sp>
        <p:nvSpPr>
          <p:cNvPr id="10" name="Shape 8"/>
          <p:cNvSpPr/>
          <p:nvPr/>
        </p:nvSpPr>
        <p:spPr>
          <a:xfrm>
            <a:off x="987552" y="2505456"/>
            <a:ext cx="0" cy="274320"/>
          </a:xfrm>
          <a:prstGeom prst="line">
            <a:avLst/>
          </a:prstGeom>
          <a:noFill/>
          <a:ln w="19050">
            <a:solidFill>
              <a:srgbClr val="94A3B8"/>
            </a:solidFill>
            <a:prstDash val="solid"/>
            <a:headEnd type="none"/>
            <a:tailEnd type="triangle"/>
          </a:ln>
        </p:spPr>
      </p:sp>
      <p:sp>
        <p:nvSpPr>
          <p:cNvPr id="11" name="Text 9"/>
          <p:cNvSpPr/>
          <p:nvPr/>
        </p:nvSpPr>
        <p:spPr>
          <a:xfrm>
            <a:off x="777240" y="2825496"/>
            <a:ext cx="411480" cy="41148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100" b="1" dirty="0">
                <a:solidFill>
                  <a:srgbClr val="7C3AED"/>
                </a:solidFill>
              </a:rPr>
              <a:t>3</a:t>
            </a:r>
            <a:endParaRPr lang="en-US" sz="1100" dirty="0"/>
          </a:p>
        </p:txBody>
      </p:sp>
      <p:sp>
        <p:nvSpPr>
          <p:cNvPr id="12" name="Text 10"/>
          <p:cNvSpPr/>
          <p:nvPr/>
        </p:nvSpPr>
        <p:spPr>
          <a:xfrm>
            <a:off x="1298448" y="2779776"/>
            <a:ext cx="2743200" cy="512064"/>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000" b="1" dirty="0">
                <a:solidFill>
                  <a:srgbClr val="7C3AED"/>
                </a:solidFill>
              </a:rPr>
              <a:t>Workflow chính</a:t>
            </a:r>
            <a:endParaRPr lang="en-US" sz="1000" dirty="0"/>
          </a:p>
        </p:txBody>
      </p:sp>
      <p:sp>
        <p:nvSpPr>
          <p:cNvPr id="13" name="Shape 11"/>
          <p:cNvSpPr/>
          <p:nvPr/>
        </p:nvSpPr>
        <p:spPr>
          <a:xfrm>
            <a:off x="987552" y="3255264"/>
            <a:ext cx="0" cy="274320"/>
          </a:xfrm>
          <a:prstGeom prst="line">
            <a:avLst/>
          </a:prstGeom>
          <a:noFill/>
          <a:ln w="19050">
            <a:solidFill>
              <a:srgbClr val="94A3B8"/>
            </a:solidFill>
            <a:prstDash val="solid"/>
            <a:headEnd type="none"/>
            <a:tailEnd type="triangle"/>
          </a:ln>
        </p:spPr>
      </p:sp>
      <p:sp>
        <p:nvSpPr>
          <p:cNvPr id="14" name="Text 12"/>
          <p:cNvSpPr/>
          <p:nvPr/>
        </p:nvSpPr>
        <p:spPr>
          <a:xfrm>
            <a:off x="777240" y="3575304"/>
            <a:ext cx="411480" cy="411480"/>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1100" b="1" dirty="0">
                <a:solidFill>
                  <a:srgbClr val="D97706"/>
                </a:solidFill>
              </a:rPr>
              <a:t>4</a:t>
            </a:r>
            <a:endParaRPr lang="en-US" sz="1100" dirty="0"/>
          </a:p>
        </p:txBody>
      </p:sp>
      <p:sp>
        <p:nvSpPr>
          <p:cNvPr id="15" name="Text 13"/>
          <p:cNvSpPr/>
          <p:nvPr/>
        </p:nvSpPr>
        <p:spPr>
          <a:xfrm>
            <a:off x="1298448" y="3529584"/>
            <a:ext cx="2743200" cy="512064"/>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1000" b="1" dirty="0">
                <a:solidFill>
                  <a:srgbClr val="D97706"/>
                </a:solidFill>
              </a:rPr>
              <a:t>Ngoại lệ &amp; lỗi</a:t>
            </a:r>
            <a:endParaRPr lang="en-US" sz="1000" dirty="0"/>
          </a:p>
        </p:txBody>
      </p:sp>
      <p:sp>
        <p:nvSpPr>
          <p:cNvPr id="16" name="Shape 14"/>
          <p:cNvSpPr/>
          <p:nvPr/>
        </p:nvSpPr>
        <p:spPr>
          <a:xfrm>
            <a:off x="987552" y="4005072"/>
            <a:ext cx="0" cy="274320"/>
          </a:xfrm>
          <a:prstGeom prst="line">
            <a:avLst/>
          </a:prstGeom>
          <a:noFill/>
          <a:ln w="19050">
            <a:solidFill>
              <a:srgbClr val="94A3B8"/>
            </a:solidFill>
            <a:prstDash val="solid"/>
            <a:headEnd type="none"/>
            <a:tailEnd type="triangle"/>
          </a:ln>
        </p:spPr>
      </p:sp>
      <p:sp>
        <p:nvSpPr>
          <p:cNvPr id="17" name="Text 15"/>
          <p:cNvSpPr/>
          <p:nvPr/>
        </p:nvSpPr>
        <p:spPr>
          <a:xfrm>
            <a:off x="777240" y="4325112"/>
            <a:ext cx="411480" cy="411480"/>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1100" b="1" dirty="0">
                <a:solidFill>
                  <a:srgbClr val="16A34A"/>
                </a:solidFill>
              </a:rPr>
              <a:t>5</a:t>
            </a:r>
            <a:endParaRPr lang="en-US" sz="1100" dirty="0"/>
          </a:p>
        </p:txBody>
      </p:sp>
      <p:sp>
        <p:nvSpPr>
          <p:cNvPr id="18" name="Text 16"/>
          <p:cNvSpPr/>
          <p:nvPr/>
        </p:nvSpPr>
        <p:spPr>
          <a:xfrm>
            <a:off x="1298448" y="4279392"/>
            <a:ext cx="2743200" cy="512064"/>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1000" b="1" dirty="0">
                <a:solidFill>
                  <a:srgbClr val="16A34A"/>
                </a:solidFill>
              </a:rPr>
              <a:t>User Story &amp; AC</a:t>
            </a:r>
            <a:endParaRPr lang="en-US" sz="1000" dirty="0"/>
          </a:p>
        </p:txBody>
      </p:sp>
      <p:sp>
        <p:nvSpPr>
          <p:cNvPr id="19" name="Shape 17"/>
          <p:cNvSpPr/>
          <p:nvPr/>
        </p:nvSpPr>
        <p:spPr>
          <a:xfrm>
            <a:off x="987552" y="4754880"/>
            <a:ext cx="0" cy="274320"/>
          </a:xfrm>
          <a:prstGeom prst="line">
            <a:avLst/>
          </a:prstGeom>
          <a:noFill/>
          <a:ln w="19050">
            <a:solidFill>
              <a:srgbClr val="94A3B8"/>
            </a:solidFill>
            <a:prstDash val="solid"/>
            <a:headEnd type="none"/>
            <a:tailEnd type="triangle"/>
          </a:ln>
        </p:spPr>
      </p:sp>
      <p:sp>
        <p:nvSpPr>
          <p:cNvPr id="20" name="Text 18"/>
          <p:cNvSpPr/>
          <p:nvPr/>
        </p:nvSpPr>
        <p:spPr>
          <a:xfrm>
            <a:off x="777240" y="5074920"/>
            <a:ext cx="411480" cy="411480"/>
          </a:xfrm>
          <a:prstGeom prst="rect">
            <a:avLst/>
          </a:prstGeom>
          <a:solidFill>
            <a:srgbClr val="FFE4E6"/>
          </a:solidFill>
          <a:ln w="13970">
            <a:solidFill>
              <a:srgbClr val="E11D48"/>
            </a:solidFill>
          </a:ln>
        </p:spPr>
        <p:txBody>
          <a:bodyPr wrap="square" lIns="1016" tIns="1016" rIns="1016" bIns="1016" rtlCol="0" anchor="ctr">
            <a:normAutofit/>
          </a:bodyPr>
          <a:lstStyle/>
          <a:p>
            <a:pPr algn="ctr" indent="0" marL="0">
              <a:buNone/>
            </a:pPr>
            <a:r>
              <a:rPr lang="en-US" sz="1100" b="1" dirty="0">
                <a:solidFill>
                  <a:srgbClr val="E11D48"/>
                </a:solidFill>
              </a:rPr>
              <a:t>6</a:t>
            </a:r>
            <a:endParaRPr lang="en-US" sz="1100" dirty="0"/>
          </a:p>
        </p:txBody>
      </p:sp>
      <p:sp>
        <p:nvSpPr>
          <p:cNvPr id="21" name="Text 19"/>
          <p:cNvSpPr/>
          <p:nvPr/>
        </p:nvSpPr>
        <p:spPr>
          <a:xfrm>
            <a:off x="1298448" y="5029200"/>
            <a:ext cx="2743200" cy="512064"/>
          </a:xfrm>
          <a:prstGeom prst="rect">
            <a:avLst/>
          </a:prstGeom>
          <a:solidFill>
            <a:srgbClr val="FFE4E6"/>
          </a:solidFill>
          <a:ln w="13970">
            <a:solidFill>
              <a:srgbClr val="E11D48"/>
            </a:solidFill>
          </a:ln>
        </p:spPr>
        <p:txBody>
          <a:bodyPr wrap="square" lIns="1016" tIns="1016" rIns="1016" bIns="1016" rtlCol="0" anchor="ctr">
            <a:normAutofit/>
          </a:bodyPr>
          <a:lstStyle/>
          <a:p>
            <a:pPr algn="ctr" indent="0" marL="0">
              <a:buNone/>
            </a:pPr>
            <a:r>
              <a:rPr lang="en-US" sz="1000" b="1" dirty="0">
                <a:solidFill>
                  <a:srgbClr val="E11D48"/>
                </a:solidFill>
              </a:rPr>
              <a:t>BPMN + review</a:t>
            </a:r>
            <a:endParaRPr lang="en-US" sz="1000" dirty="0"/>
          </a:p>
        </p:txBody>
      </p:sp>
      <p:sp>
        <p:nvSpPr>
          <p:cNvPr id="22" name="Text 20"/>
          <p:cNvSpPr/>
          <p:nvPr/>
        </p:nvSpPr>
        <p:spPr>
          <a:xfrm>
            <a:off x="4663440" y="1353312"/>
            <a:ext cx="292608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0F766E"/>
                </a:solidFill>
              </a:rPr>
              <a:t>Đầu ra chuẩn</a:t>
            </a:r>
            <a:endParaRPr lang="en-US" sz="1150" dirty="0"/>
          </a:p>
        </p:txBody>
      </p:sp>
      <p:sp>
        <p:nvSpPr>
          <p:cNvPr id="23" name="Text 21"/>
          <p:cNvSpPr/>
          <p:nvPr/>
        </p:nvSpPr>
        <p:spPr>
          <a:xfrm>
            <a:off x="4663440" y="1737360"/>
            <a:ext cx="2926080" cy="189280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Feature Definition</a:t>
            </a:r>
            <a:endParaRPr lang="en-US" sz="920" dirty="0"/>
          </a:p>
          <a:p>
            <a:pPr indent="0" marL="0">
              <a:buNone/>
            </a:pPr>
            <a:r>
              <a:rPr lang="en-US" sz="920" dirty="0">
                <a:solidFill>
                  <a:srgbClr val="5B667A"/>
                </a:solidFill>
              </a:rPr>
              <a:t>• Business Rules</a:t>
            </a:r>
            <a:endParaRPr lang="en-US" sz="920" dirty="0"/>
          </a:p>
          <a:p>
            <a:pPr indent="0" marL="0">
              <a:buNone/>
            </a:pPr>
            <a:r>
              <a:rPr lang="en-US" sz="920" dirty="0">
                <a:solidFill>
                  <a:srgbClr val="5B667A"/>
                </a:solidFill>
              </a:rPr>
              <a:t>• Workflow nghiệp vụ</a:t>
            </a:r>
            <a:endParaRPr lang="en-US" sz="920" dirty="0"/>
          </a:p>
          <a:p>
            <a:pPr indent="0" marL="0">
              <a:buNone/>
            </a:pPr>
            <a:r>
              <a:rPr lang="en-US" sz="920" dirty="0">
                <a:solidFill>
                  <a:srgbClr val="5B667A"/>
                </a:solidFill>
              </a:rPr>
              <a:t>• User Story</a:t>
            </a:r>
            <a:endParaRPr lang="en-US" sz="920" dirty="0"/>
          </a:p>
          <a:p>
            <a:pPr indent="0" marL="0">
              <a:buNone/>
            </a:pPr>
            <a:r>
              <a:rPr lang="en-US" sz="920" dirty="0">
                <a:solidFill>
                  <a:srgbClr val="5B667A"/>
                </a:solidFill>
              </a:rPr>
              <a:t>• Acceptance Criteria</a:t>
            </a:r>
            <a:endParaRPr lang="en-US" sz="920" dirty="0"/>
          </a:p>
          <a:p>
            <a:pPr indent="0" marL="0">
              <a:buNone/>
            </a:pPr>
            <a:r>
              <a:rPr lang="en-US" sz="920" dirty="0">
                <a:solidFill>
                  <a:srgbClr val="5B667A"/>
                </a:solidFill>
              </a:rPr>
              <a:t>• BPMN artifact</a:t>
            </a:r>
            <a:endParaRPr lang="en-US" sz="920" dirty="0"/>
          </a:p>
          <a:p>
            <a:pPr indent="0" marL="0">
              <a:buNone/>
            </a:pPr>
            <a:r>
              <a:rPr lang="en-US" sz="920" dirty="0">
                <a:solidFill>
                  <a:srgbClr val="5B667A"/>
                </a:solidFill>
              </a:rPr>
              <a:t>• Danh sách màn hình cần thiết</a:t>
            </a:r>
            <a:endParaRPr lang="en-US" sz="920" dirty="0"/>
          </a:p>
        </p:txBody>
      </p:sp>
      <p:sp>
        <p:nvSpPr>
          <p:cNvPr id="24" name="Text 22"/>
          <p:cNvSpPr/>
          <p:nvPr/>
        </p:nvSpPr>
        <p:spPr>
          <a:xfrm>
            <a:off x="8229600" y="1353312"/>
            <a:ext cx="297180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D97706"/>
                </a:solidFill>
              </a:rPr>
              <a:t>Điểm kiểm soát</a:t>
            </a:r>
            <a:endParaRPr lang="en-US" sz="1150" dirty="0"/>
          </a:p>
        </p:txBody>
      </p:sp>
      <p:sp>
        <p:nvSpPr>
          <p:cNvPr id="25" name="Text 23"/>
          <p:cNvSpPr/>
          <p:nvPr/>
        </p:nvSpPr>
        <p:spPr>
          <a:xfrm>
            <a:off x="8229600" y="1737360"/>
            <a:ext cx="2971800" cy="189280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Không chuyển sang Designer Agent nếu BA/PO chưa xác nhận</a:t>
            </a:r>
            <a:endParaRPr lang="en-US" sz="920" dirty="0"/>
          </a:p>
          <a:p>
            <a:pPr indent="0" marL="0">
              <a:buNone/>
            </a:pPr>
            <a:r>
              <a:rPr lang="en-US" sz="920" dirty="0">
                <a:solidFill>
                  <a:srgbClr val="5B667A"/>
                </a:solidFill>
              </a:rPr>
              <a:t>• BPMN phải có luồng chính, nhánh ngoại lệ và điểm xác nhận của người dùng</a:t>
            </a:r>
            <a:endParaRPr lang="en-US" sz="920" dirty="0"/>
          </a:p>
          <a:p>
            <a:pPr indent="0" marL="0">
              <a:buNone/>
            </a:pPr>
            <a:r>
              <a:rPr lang="en-US" sz="920" dirty="0">
                <a:solidFill>
                  <a:srgbClr val="5B667A"/>
                </a:solidFill>
              </a:rPr>
              <a:t>• User Story phải liên kết với Acceptance Criteria</a:t>
            </a:r>
            <a:endParaRPr lang="en-US" sz="920" dirty="0"/>
          </a:p>
        </p:txBody>
      </p:sp>
      <p:sp>
        <p:nvSpPr>
          <p:cNvPr id="26" name="Text 24"/>
          <p:cNvSpPr/>
          <p:nvPr/>
        </p:nvSpPr>
        <p:spPr>
          <a:xfrm>
            <a:off x="4800600" y="4773168"/>
            <a:ext cx="1554480" cy="502920"/>
          </a:xfrm>
          <a:prstGeom prst="rect">
            <a:avLst/>
          </a:prstGeom>
          <a:solidFill>
            <a:srgbClr val="EEF2F7"/>
          </a:solidFill>
          <a:ln w="13970">
            <a:solidFill>
              <a:srgbClr val="CBD5E1"/>
            </a:solidFill>
          </a:ln>
        </p:spPr>
        <p:txBody>
          <a:bodyPr wrap="square" lIns="1016" tIns="1016" rIns="1016" bIns="1016" rtlCol="0" anchor="ctr">
            <a:normAutofit/>
          </a:bodyPr>
          <a:lstStyle/>
          <a:p>
            <a:pPr algn="ctr" indent="0" marL="0">
              <a:buNone/>
            </a:pPr>
            <a:r>
              <a:rPr lang="en-US" sz="1050" dirty="0">
                <a:solidFill>
                  <a:srgbClr val="182033"/>
                </a:solidFill>
              </a:rPr>
              <a:t>Feature / Task</a:t>
            </a:r>
            <a:endParaRPr lang="en-US" sz="1050" dirty="0"/>
          </a:p>
        </p:txBody>
      </p:sp>
      <p:sp>
        <p:nvSpPr>
          <p:cNvPr id="27" name="Shape 25"/>
          <p:cNvSpPr/>
          <p:nvPr/>
        </p:nvSpPr>
        <p:spPr>
          <a:xfrm>
            <a:off x="6382512" y="5029200"/>
            <a:ext cx="338328" cy="0"/>
          </a:xfrm>
          <a:prstGeom prst="line">
            <a:avLst/>
          </a:prstGeom>
          <a:noFill/>
          <a:ln w="19050">
            <a:solidFill>
              <a:srgbClr val="5B667A"/>
            </a:solidFill>
            <a:prstDash val="solid"/>
            <a:headEnd type="none"/>
            <a:tailEnd type="triangle"/>
          </a:ln>
        </p:spPr>
      </p:sp>
      <p:sp>
        <p:nvSpPr>
          <p:cNvPr id="28" name="Text 26"/>
          <p:cNvSpPr/>
          <p:nvPr/>
        </p:nvSpPr>
        <p:spPr>
          <a:xfrm>
            <a:off x="6748272" y="4773168"/>
            <a:ext cx="1554480" cy="502920"/>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050" b="1" dirty="0">
                <a:solidFill>
                  <a:srgbClr val="0F766E"/>
                </a:solidFill>
              </a:rPr>
              <a:t>BA Agent</a:t>
            </a:r>
            <a:endParaRPr lang="en-US" sz="1050" dirty="0"/>
          </a:p>
        </p:txBody>
      </p:sp>
      <p:sp>
        <p:nvSpPr>
          <p:cNvPr id="29" name="Shape 27"/>
          <p:cNvSpPr/>
          <p:nvPr/>
        </p:nvSpPr>
        <p:spPr>
          <a:xfrm>
            <a:off x="8330184" y="5029200"/>
            <a:ext cx="338328" cy="0"/>
          </a:xfrm>
          <a:prstGeom prst="line">
            <a:avLst/>
          </a:prstGeom>
          <a:noFill/>
          <a:ln w="19050">
            <a:solidFill>
              <a:srgbClr val="5B667A"/>
            </a:solidFill>
            <a:prstDash val="solid"/>
            <a:headEnd type="none"/>
            <a:tailEnd type="triangle"/>
          </a:ln>
        </p:spPr>
      </p:sp>
      <p:sp>
        <p:nvSpPr>
          <p:cNvPr id="30" name="Text 28"/>
          <p:cNvSpPr/>
          <p:nvPr/>
        </p:nvSpPr>
        <p:spPr>
          <a:xfrm>
            <a:off x="8695944" y="4773168"/>
            <a:ext cx="1920240" cy="502920"/>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1050" b="1" dirty="0">
                <a:solidFill>
                  <a:srgbClr val="16A34A"/>
                </a:solidFill>
              </a:rPr>
              <a:t>BPMN + User Story</a:t>
            </a:r>
            <a:endParaRPr lang="en-US" sz="1050" dirty="0"/>
          </a:p>
        </p:txBody>
      </p:sp>
      <p:sp>
        <p:nvSpPr>
          <p:cNvPr id="31" name="Text 29"/>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6. Feature Designer Agent: từ BPMN sang màn hình Penpot</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Agent không sinh lại Design System; chỉ sử dụng version đã duyệt và đề xuất bổ sung khi thiếu.</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868680" y="1417320"/>
            <a:ext cx="2011680" cy="640080"/>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000" b="1" dirty="0">
                <a:solidFill>
                  <a:srgbClr val="0F766E"/>
                </a:solidFill>
              </a:rPr>
              <a:t>User Story + BPMN</a:t>
            </a:r>
            <a:endParaRPr lang="en-US" sz="1000" dirty="0"/>
          </a:p>
          <a:p>
            <a:pPr algn="ctr" indent="0" marL="0">
              <a:buNone/>
            </a:pPr>
            <a:r>
              <a:rPr lang="en-US" sz="1000" b="1" dirty="0">
                <a:solidFill>
                  <a:srgbClr val="0F766E"/>
                </a:solidFill>
              </a:rPr>
              <a:t>đã xác nhận</a:t>
            </a:r>
            <a:endParaRPr lang="en-US" sz="1000" dirty="0"/>
          </a:p>
        </p:txBody>
      </p:sp>
      <p:sp>
        <p:nvSpPr>
          <p:cNvPr id="6" name="Shape 4"/>
          <p:cNvSpPr/>
          <p:nvPr/>
        </p:nvSpPr>
        <p:spPr>
          <a:xfrm>
            <a:off x="1874520" y="2103120"/>
            <a:ext cx="0" cy="237744"/>
          </a:xfrm>
          <a:prstGeom prst="line">
            <a:avLst/>
          </a:prstGeom>
          <a:noFill/>
          <a:ln w="19050">
            <a:solidFill>
              <a:srgbClr val="5B667A"/>
            </a:solidFill>
            <a:prstDash val="solid"/>
            <a:headEnd type="none"/>
            <a:tailEnd type="triangle"/>
          </a:ln>
        </p:spPr>
      </p:sp>
      <p:sp>
        <p:nvSpPr>
          <p:cNvPr id="7" name="Text 5"/>
          <p:cNvSpPr/>
          <p:nvPr/>
        </p:nvSpPr>
        <p:spPr>
          <a:xfrm>
            <a:off x="868680" y="2395728"/>
            <a:ext cx="2011680" cy="530352"/>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050" b="1" dirty="0">
                <a:solidFill>
                  <a:srgbClr val="2563EB"/>
                </a:solidFill>
              </a:rPr>
              <a:t>Screen Inventory</a:t>
            </a:r>
            <a:endParaRPr lang="en-US" sz="1050" dirty="0"/>
          </a:p>
        </p:txBody>
      </p:sp>
      <p:sp>
        <p:nvSpPr>
          <p:cNvPr id="8" name="Shape 6"/>
          <p:cNvSpPr/>
          <p:nvPr/>
        </p:nvSpPr>
        <p:spPr>
          <a:xfrm>
            <a:off x="1874520" y="2953512"/>
            <a:ext cx="0" cy="237744"/>
          </a:xfrm>
          <a:prstGeom prst="line">
            <a:avLst/>
          </a:prstGeom>
          <a:noFill/>
          <a:ln w="19050">
            <a:solidFill>
              <a:srgbClr val="5B667A"/>
            </a:solidFill>
            <a:prstDash val="solid"/>
            <a:headEnd type="none"/>
            <a:tailEnd type="triangle"/>
          </a:ln>
        </p:spPr>
      </p:sp>
      <p:sp>
        <p:nvSpPr>
          <p:cNvPr id="9" name="Text 7"/>
          <p:cNvSpPr/>
          <p:nvPr/>
        </p:nvSpPr>
        <p:spPr>
          <a:xfrm>
            <a:off x="868680" y="3246120"/>
            <a:ext cx="2011680" cy="64008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000" b="1" dirty="0">
                <a:solidFill>
                  <a:srgbClr val="7C3AED"/>
                </a:solidFill>
              </a:rPr>
              <a:t>BPMN-to-Screen</a:t>
            </a:r>
            <a:endParaRPr lang="en-US" sz="1000" dirty="0"/>
          </a:p>
          <a:p>
            <a:pPr algn="ctr" indent="0" marL="0">
              <a:buNone/>
            </a:pPr>
            <a:r>
              <a:rPr lang="en-US" sz="1000" b="1" dirty="0">
                <a:solidFill>
                  <a:srgbClr val="7C3AED"/>
                </a:solidFill>
              </a:rPr>
              <a:t>Mapping</a:t>
            </a:r>
            <a:endParaRPr lang="en-US" sz="1000" dirty="0"/>
          </a:p>
        </p:txBody>
      </p:sp>
      <p:sp>
        <p:nvSpPr>
          <p:cNvPr id="10" name="Shape 8"/>
          <p:cNvSpPr/>
          <p:nvPr/>
        </p:nvSpPr>
        <p:spPr>
          <a:xfrm>
            <a:off x="1874520" y="3931920"/>
            <a:ext cx="0" cy="237744"/>
          </a:xfrm>
          <a:prstGeom prst="line">
            <a:avLst/>
          </a:prstGeom>
          <a:noFill/>
          <a:ln w="19050">
            <a:solidFill>
              <a:srgbClr val="5B667A"/>
            </a:solidFill>
            <a:prstDash val="solid"/>
            <a:headEnd type="none"/>
            <a:tailEnd type="triangle"/>
          </a:ln>
        </p:spPr>
      </p:sp>
      <p:sp>
        <p:nvSpPr>
          <p:cNvPr id="11" name="Text 9"/>
          <p:cNvSpPr/>
          <p:nvPr/>
        </p:nvSpPr>
        <p:spPr>
          <a:xfrm>
            <a:off x="868680" y="4224528"/>
            <a:ext cx="2011680" cy="640080"/>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1000" b="1" dirty="0">
                <a:solidFill>
                  <a:srgbClr val="D97706"/>
                </a:solidFill>
              </a:rPr>
              <a:t>Component Mapping</a:t>
            </a:r>
            <a:endParaRPr lang="en-US" sz="1000" dirty="0"/>
          </a:p>
          <a:p>
            <a:pPr algn="ctr" indent="0" marL="0">
              <a:buNone/>
            </a:pPr>
            <a:r>
              <a:rPr lang="en-US" sz="1000" b="1" dirty="0">
                <a:solidFill>
                  <a:srgbClr val="D97706"/>
                </a:solidFill>
              </a:rPr>
              <a:t>Design System vX</a:t>
            </a:r>
            <a:endParaRPr lang="en-US" sz="1000" dirty="0"/>
          </a:p>
        </p:txBody>
      </p:sp>
      <p:sp>
        <p:nvSpPr>
          <p:cNvPr id="12" name="Shape 10"/>
          <p:cNvSpPr/>
          <p:nvPr/>
        </p:nvSpPr>
        <p:spPr>
          <a:xfrm>
            <a:off x="1874520" y="4910328"/>
            <a:ext cx="0" cy="237744"/>
          </a:xfrm>
          <a:prstGeom prst="line">
            <a:avLst/>
          </a:prstGeom>
          <a:noFill/>
          <a:ln w="19050">
            <a:solidFill>
              <a:srgbClr val="5B667A"/>
            </a:solidFill>
            <a:prstDash val="solid"/>
            <a:headEnd type="none"/>
            <a:tailEnd type="triangle"/>
          </a:ln>
        </p:spPr>
      </p:sp>
      <p:sp>
        <p:nvSpPr>
          <p:cNvPr id="13" name="Text 11"/>
          <p:cNvSpPr/>
          <p:nvPr/>
        </p:nvSpPr>
        <p:spPr>
          <a:xfrm>
            <a:off x="868680" y="5202936"/>
            <a:ext cx="2011680" cy="640080"/>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1000" b="1" dirty="0">
                <a:solidFill>
                  <a:srgbClr val="16A34A"/>
                </a:solidFill>
              </a:rPr>
              <a:t>Penpot AI Draft</a:t>
            </a:r>
            <a:endParaRPr lang="en-US" sz="1000" dirty="0"/>
          </a:p>
          <a:p>
            <a:pPr algn="ctr" indent="0" marL="0">
              <a:buNone/>
            </a:pPr>
            <a:r>
              <a:rPr lang="en-US" sz="1000" b="1" dirty="0">
                <a:solidFill>
                  <a:srgbClr val="16A34A"/>
                </a:solidFill>
              </a:rPr>
              <a:t>Screen + Prototype</a:t>
            </a:r>
            <a:endParaRPr lang="en-US" sz="1000" dirty="0"/>
          </a:p>
        </p:txBody>
      </p:sp>
      <p:sp>
        <p:nvSpPr>
          <p:cNvPr id="14" name="Text 12"/>
          <p:cNvSpPr/>
          <p:nvPr/>
        </p:nvSpPr>
        <p:spPr>
          <a:xfrm>
            <a:off x="3749040" y="1371600"/>
            <a:ext cx="2926080" cy="310896"/>
          </a:xfrm>
          <a:prstGeom prst="rect">
            <a:avLst/>
          </a:prstGeom>
          <a:solidFill>
            <a:srgbClr val="EDE9FE"/>
          </a:solidFill>
          <a:ln>
            <a:solidFill>
              <a:srgbClr val="EDE9FE"/>
            </a:solidFill>
          </a:ln>
        </p:spPr>
        <p:txBody>
          <a:bodyPr wrap="square" lIns="254" tIns="254" rIns="254" bIns="254" rtlCol="0" anchor="ctr"/>
          <a:lstStyle/>
          <a:p>
            <a:pPr algn="ctr" indent="0" marL="0">
              <a:buNone/>
            </a:pPr>
            <a:r>
              <a:rPr lang="en-US" sz="950" b="1" dirty="0">
                <a:solidFill>
                  <a:srgbClr val="7C3AED"/>
                </a:solidFill>
              </a:rPr>
              <a:t>Screen State Matrix</a:t>
            </a:r>
            <a:endParaRPr lang="en-US" sz="950" dirty="0"/>
          </a:p>
        </p:txBody>
      </p:sp>
      <p:sp>
        <p:nvSpPr>
          <p:cNvPr id="15" name="Text 13"/>
          <p:cNvSpPr/>
          <p:nvPr/>
        </p:nvSpPr>
        <p:spPr>
          <a:xfrm>
            <a:off x="3749040" y="1920240"/>
            <a:ext cx="297180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2563EB"/>
                </a:solidFill>
              </a:rPr>
              <a:t>Form tạo yêu cầu</a:t>
            </a:r>
            <a:endParaRPr lang="en-US" sz="1150" dirty="0"/>
          </a:p>
        </p:txBody>
      </p:sp>
      <p:sp>
        <p:nvSpPr>
          <p:cNvPr id="16" name="Text 14"/>
          <p:cNvSpPr/>
          <p:nvPr/>
        </p:nvSpPr>
        <p:spPr>
          <a:xfrm>
            <a:off x="3749040" y="2304288"/>
            <a:ext cx="2971800" cy="146304"/>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Empty · Valid · Invalid · Loading</a:t>
            </a:r>
            <a:endParaRPr lang="en-US" sz="920" dirty="0"/>
          </a:p>
        </p:txBody>
      </p:sp>
      <p:sp>
        <p:nvSpPr>
          <p:cNvPr id="17" name="Text 15"/>
          <p:cNvSpPr/>
          <p:nvPr/>
        </p:nvSpPr>
        <p:spPr>
          <a:xfrm>
            <a:off x="3749040" y="2670048"/>
            <a:ext cx="2971800" cy="320040"/>
          </a:xfrm>
          <a:prstGeom prst="rect">
            <a:avLst/>
          </a:prstGeom>
          <a:solidFill>
            <a:srgbClr val="F8FAFC"/>
          </a:solidFill>
          <a:ln w="12700">
            <a:solidFill>
              <a:srgbClr val="E5EAF3"/>
            </a:solidFill>
          </a:ln>
        </p:spPr>
        <p:txBody>
          <a:bodyPr wrap="square" lIns="762" tIns="762" rIns="762" bIns="762" rtlCol="0" anchor="t"/>
          <a:lstStyle/>
          <a:p>
            <a:pPr indent="0" marL="0">
              <a:buNone/>
            </a:pPr>
            <a:r>
              <a:rPr lang="en-US" sz="1150" b="1" dirty="0">
                <a:solidFill>
                  <a:srgbClr val="0F766E"/>
                </a:solidFill>
              </a:rPr>
              <a:t>Danh sách hồ sơ</a:t>
            </a:r>
            <a:endParaRPr lang="en-US" sz="1150" dirty="0"/>
          </a:p>
        </p:txBody>
      </p:sp>
      <p:sp>
        <p:nvSpPr>
          <p:cNvPr id="18" name="Text 16"/>
          <p:cNvSpPr/>
          <p:nvPr/>
        </p:nvSpPr>
        <p:spPr>
          <a:xfrm>
            <a:off x="3749040" y="3054096"/>
            <a:ext cx="2971800" cy="146304"/>
          </a:xfrm>
          <a:prstGeom prst="rect">
            <a:avLst/>
          </a:prstGeom>
          <a:solidFill>
            <a:srgbClr val="F8FAFC">
              <a:alpha val="0"/>
            </a:srgbClr>
          </a:solidFill>
          <a:ln>
            <a:solidFill>
              <a:srgbClr val="F8FAFC">
                <a:alpha val="0"/>
              </a:srgbClr>
            </a:solidFill>
          </a:ln>
        </p:spPr>
        <p:txBody>
          <a:bodyPr wrap="square" lIns="1016" tIns="1016" rIns="1016" bIns="1016" rtlCol="0" anchor="ctr">
            <a:normAutofit/>
          </a:bodyPr>
          <a:lstStyle/>
          <a:p>
            <a:pPr indent="0" marL="0">
              <a:buNone/>
            </a:pPr>
            <a:r>
              <a:rPr lang="en-US" sz="920" dirty="0">
                <a:solidFill>
                  <a:srgbClr val="5B667A"/>
                </a:solidFill>
              </a:rPr>
              <a:t>Loading · Empty · Data · Error</a:t>
            </a:r>
            <a:endParaRPr lang="en-US" sz="920" dirty="0"/>
          </a:p>
        </p:txBody>
      </p:sp>
      <p:sp>
        <p:nvSpPr>
          <p:cNvPr id="19" name="Text 17"/>
          <p:cNvSpPr/>
          <p:nvPr/>
        </p:nvSpPr>
        <p:spPr>
          <a:xfrm>
            <a:off x="3749040" y="3419856"/>
            <a:ext cx="297180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7C3AED"/>
                </a:solidFill>
              </a:rPr>
              <a:t>Chi tiết phê duyệt</a:t>
            </a:r>
            <a:endParaRPr lang="en-US" sz="1150" dirty="0"/>
          </a:p>
        </p:txBody>
      </p:sp>
      <p:sp>
        <p:nvSpPr>
          <p:cNvPr id="20" name="Text 18"/>
          <p:cNvSpPr/>
          <p:nvPr/>
        </p:nvSpPr>
        <p:spPr>
          <a:xfrm>
            <a:off x="3749040" y="3803904"/>
            <a:ext cx="2971800" cy="146304"/>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Pending · Approved · Rejected</a:t>
            </a:r>
            <a:endParaRPr lang="en-US" sz="920" dirty="0"/>
          </a:p>
        </p:txBody>
      </p:sp>
      <p:sp>
        <p:nvSpPr>
          <p:cNvPr id="21" name="Text 19"/>
          <p:cNvSpPr/>
          <p:nvPr/>
        </p:nvSpPr>
        <p:spPr>
          <a:xfrm>
            <a:off x="3749040" y="4169664"/>
            <a:ext cx="2971800" cy="320040"/>
          </a:xfrm>
          <a:prstGeom prst="rect">
            <a:avLst/>
          </a:prstGeom>
          <a:solidFill>
            <a:srgbClr val="F8FAFC"/>
          </a:solidFill>
          <a:ln w="12700">
            <a:solidFill>
              <a:srgbClr val="E5EAF3"/>
            </a:solidFill>
          </a:ln>
        </p:spPr>
        <p:txBody>
          <a:bodyPr wrap="square" lIns="762" tIns="762" rIns="762" bIns="762" rtlCol="0" anchor="t"/>
          <a:lstStyle/>
          <a:p>
            <a:pPr indent="0" marL="0">
              <a:buNone/>
            </a:pPr>
            <a:r>
              <a:rPr lang="en-US" sz="1150" b="1" dirty="0">
                <a:solidFill>
                  <a:srgbClr val="D97706"/>
                </a:solidFill>
              </a:rPr>
              <a:t>Kết quả xử lý</a:t>
            </a:r>
            <a:endParaRPr lang="en-US" sz="1150" dirty="0"/>
          </a:p>
        </p:txBody>
      </p:sp>
      <p:sp>
        <p:nvSpPr>
          <p:cNvPr id="22" name="Text 20"/>
          <p:cNvSpPr/>
          <p:nvPr/>
        </p:nvSpPr>
        <p:spPr>
          <a:xfrm>
            <a:off x="3749040" y="4553712"/>
            <a:ext cx="2971800" cy="146304"/>
          </a:xfrm>
          <a:prstGeom prst="rect">
            <a:avLst/>
          </a:prstGeom>
          <a:solidFill>
            <a:srgbClr val="F8FAFC">
              <a:alpha val="0"/>
            </a:srgbClr>
          </a:solidFill>
          <a:ln>
            <a:solidFill>
              <a:srgbClr val="F8FAFC">
                <a:alpha val="0"/>
              </a:srgbClr>
            </a:solidFill>
          </a:ln>
        </p:spPr>
        <p:txBody>
          <a:bodyPr wrap="square" lIns="1016" tIns="1016" rIns="1016" bIns="1016" rtlCol="0" anchor="ctr">
            <a:normAutofit/>
          </a:bodyPr>
          <a:lstStyle/>
          <a:p>
            <a:pPr indent="0" marL="0">
              <a:buNone/>
            </a:pPr>
            <a:r>
              <a:rPr lang="en-US" sz="920" dirty="0">
                <a:solidFill>
                  <a:srgbClr val="5B667A"/>
                </a:solidFill>
              </a:rPr>
              <a:t>Success · Failed · Retry</a:t>
            </a:r>
            <a:endParaRPr lang="en-US" sz="920" dirty="0"/>
          </a:p>
        </p:txBody>
      </p:sp>
      <p:sp>
        <p:nvSpPr>
          <p:cNvPr id="23" name="Text 21"/>
          <p:cNvSpPr/>
          <p:nvPr/>
        </p:nvSpPr>
        <p:spPr>
          <a:xfrm>
            <a:off x="7635240" y="1417320"/>
            <a:ext cx="361188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D97706"/>
                </a:solidFill>
              </a:rPr>
              <a:t>Khi thiếu component</a:t>
            </a:r>
            <a:endParaRPr lang="en-US" sz="1150" dirty="0"/>
          </a:p>
        </p:txBody>
      </p:sp>
      <p:sp>
        <p:nvSpPr>
          <p:cNvPr id="24" name="Text 22"/>
          <p:cNvSpPr/>
          <p:nvPr/>
        </p:nvSpPr>
        <p:spPr>
          <a:xfrm>
            <a:off x="7635240" y="1801368"/>
            <a:ext cx="3611880" cy="116128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Feature Designer Agent tạo Design System Change Proposal, không sửa trực tiếp chuẩn đã duyệt. Proposal cần lý do, feature bị ảnh hưởng, component/pattern đề xuất và trạng thái review.</a:t>
            </a:r>
            <a:endParaRPr lang="en-US" sz="920" dirty="0"/>
          </a:p>
        </p:txBody>
      </p:sp>
      <p:sp>
        <p:nvSpPr>
          <p:cNvPr id="25" name="Text 23"/>
          <p:cNvSpPr/>
          <p:nvPr/>
        </p:nvSpPr>
        <p:spPr>
          <a:xfrm>
            <a:off x="7635240" y="3429000"/>
            <a:ext cx="361188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E11D48"/>
                </a:solidFill>
              </a:rPr>
              <a:t>Phạm vi ghi trên Penpot</a:t>
            </a:r>
            <a:endParaRPr lang="en-US" sz="1150" dirty="0"/>
          </a:p>
        </p:txBody>
      </p:sp>
      <p:sp>
        <p:nvSpPr>
          <p:cNvPr id="26" name="Text 24"/>
          <p:cNvSpPr/>
          <p:nvPr/>
        </p:nvSpPr>
        <p:spPr>
          <a:xfrm>
            <a:off x="7635240" y="3813048"/>
            <a:ext cx="3611880" cy="84124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Được tạo hoặc sửa: AI Draft, In Review.</a:t>
            </a:r>
            <a:endParaRPr lang="en-US" sz="920" dirty="0"/>
          </a:p>
          <a:p>
            <a:pPr indent="0" marL="0">
              <a:buNone/>
            </a:pPr>
            <a:r>
              <a:rPr lang="en-US" sz="920" dirty="0">
                <a:solidFill>
                  <a:srgbClr val="5B667A"/>
                </a:solidFill>
              </a:rPr>
              <a:t>Không tự ý sửa: Approved Design, Component Library chính thức, Design Token chính thức.</a:t>
            </a:r>
            <a:endParaRPr lang="en-US" sz="920" dirty="0"/>
          </a:p>
        </p:txBody>
      </p:sp>
      <p:sp>
        <p:nvSpPr>
          <p:cNvPr id="27" name="Text 25"/>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7. Validation Agent: kiểm tra trước khi review</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Không chỉ chấm điểm; phải trả ra lỗi, cảnh báo, dẫn chứng và hành động cần sửa.</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777240" y="1417320"/>
            <a:ext cx="205740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0F766E"/>
                </a:solidFill>
              </a:rPr>
              <a:t>1. Độ bao phủ</a:t>
            </a:r>
            <a:endParaRPr lang="en-US" sz="1150" dirty="0"/>
          </a:p>
        </p:txBody>
      </p:sp>
      <p:sp>
        <p:nvSpPr>
          <p:cNvPr id="6" name="Text 4"/>
          <p:cNvSpPr/>
          <p:nvPr/>
        </p:nvSpPr>
        <p:spPr>
          <a:xfrm>
            <a:off x="777240" y="1801368"/>
            <a:ext cx="2057400" cy="138988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User Story chưa có màn hình</a:t>
            </a:r>
            <a:endParaRPr lang="en-US" sz="920" dirty="0"/>
          </a:p>
          <a:p>
            <a:pPr indent="0" marL="0">
              <a:buNone/>
            </a:pPr>
            <a:r>
              <a:rPr lang="en-US" sz="920" dirty="0">
                <a:solidFill>
                  <a:srgbClr val="5B667A"/>
                </a:solidFill>
              </a:rPr>
              <a:t>• BPMN node chưa có frame</a:t>
            </a:r>
            <a:endParaRPr lang="en-US" sz="920" dirty="0"/>
          </a:p>
          <a:p>
            <a:pPr indent="0" marL="0">
              <a:buNone/>
            </a:pPr>
            <a:r>
              <a:rPr lang="en-US" sz="920" dirty="0">
                <a:solidFill>
                  <a:srgbClr val="5B667A"/>
                </a:solidFill>
              </a:rPr>
              <a:t>• AC chưa được hỗ trợ</a:t>
            </a:r>
            <a:endParaRPr lang="en-US" sz="920" dirty="0"/>
          </a:p>
          <a:p>
            <a:pPr indent="0" marL="0">
              <a:buNone/>
            </a:pPr>
            <a:r>
              <a:rPr lang="en-US" sz="920" dirty="0">
                <a:solidFill>
                  <a:srgbClr val="5B667A"/>
                </a:solidFill>
              </a:rPr>
              <a:t>• Thiếu nhánh lỗi</a:t>
            </a:r>
            <a:endParaRPr lang="en-US" sz="920" dirty="0"/>
          </a:p>
        </p:txBody>
      </p:sp>
      <p:sp>
        <p:nvSpPr>
          <p:cNvPr id="7" name="Text 5"/>
          <p:cNvSpPr/>
          <p:nvPr/>
        </p:nvSpPr>
        <p:spPr>
          <a:xfrm>
            <a:off x="3154680" y="1417320"/>
            <a:ext cx="205740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7C3AED"/>
                </a:solidFill>
              </a:rPr>
              <a:t>2. Logic UX</a:t>
            </a:r>
            <a:endParaRPr lang="en-US" sz="1150" dirty="0"/>
          </a:p>
        </p:txBody>
      </p:sp>
      <p:sp>
        <p:nvSpPr>
          <p:cNvPr id="8" name="Text 6"/>
          <p:cNvSpPr/>
          <p:nvPr/>
        </p:nvSpPr>
        <p:spPr>
          <a:xfrm>
            <a:off x="3154680" y="1801368"/>
            <a:ext cx="2057400" cy="138988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Luồng bị đứt</a:t>
            </a:r>
            <a:endParaRPr lang="en-US" sz="920" dirty="0"/>
          </a:p>
          <a:p>
            <a:pPr indent="0" marL="0">
              <a:buNone/>
            </a:pPr>
            <a:r>
              <a:rPr lang="en-US" sz="920" dirty="0">
                <a:solidFill>
                  <a:srgbClr val="5B667A"/>
                </a:solidFill>
              </a:rPr>
              <a:t>• Thiếu trạng thái loading/error</a:t>
            </a:r>
            <a:endParaRPr lang="en-US" sz="920" dirty="0"/>
          </a:p>
          <a:p>
            <a:pPr indent="0" marL="0">
              <a:buNone/>
            </a:pPr>
            <a:r>
              <a:rPr lang="en-US" sz="920" dirty="0">
                <a:solidFill>
                  <a:srgbClr val="5B667A"/>
                </a:solidFill>
              </a:rPr>
              <a:t>• Không có quay lại/hủy</a:t>
            </a:r>
            <a:endParaRPr lang="en-US" sz="920" dirty="0"/>
          </a:p>
          <a:p>
            <a:pPr indent="0" marL="0">
              <a:buNone/>
            </a:pPr>
            <a:r>
              <a:rPr lang="en-US" sz="920" dirty="0">
                <a:solidFill>
                  <a:srgbClr val="5B667A"/>
                </a:solidFill>
              </a:rPr>
              <a:t>• Thiếu xác nhận hành động quan trọng</a:t>
            </a:r>
            <a:endParaRPr lang="en-US" sz="920" dirty="0"/>
          </a:p>
        </p:txBody>
      </p:sp>
      <p:sp>
        <p:nvSpPr>
          <p:cNvPr id="9" name="Text 7"/>
          <p:cNvSpPr/>
          <p:nvPr/>
        </p:nvSpPr>
        <p:spPr>
          <a:xfrm>
            <a:off x="5532120" y="1417320"/>
            <a:ext cx="205740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2563EB"/>
                </a:solidFill>
              </a:rPr>
              <a:t>3. Chuẩn UI</a:t>
            </a:r>
            <a:endParaRPr lang="en-US" sz="1150" dirty="0"/>
          </a:p>
        </p:txBody>
      </p:sp>
      <p:sp>
        <p:nvSpPr>
          <p:cNvPr id="10" name="Text 8"/>
          <p:cNvSpPr/>
          <p:nvPr/>
        </p:nvSpPr>
        <p:spPr>
          <a:xfrm>
            <a:off x="5532120" y="1801368"/>
            <a:ext cx="2057400" cy="138988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Sai token</a:t>
            </a:r>
            <a:endParaRPr lang="en-US" sz="920" dirty="0"/>
          </a:p>
          <a:p>
            <a:pPr indent="0" marL="0">
              <a:buNone/>
            </a:pPr>
            <a:r>
              <a:rPr lang="en-US" sz="920" dirty="0">
                <a:solidFill>
                  <a:srgbClr val="5B667A"/>
                </a:solidFill>
              </a:rPr>
              <a:t>• Sai spacing/font/màu</a:t>
            </a:r>
            <a:endParaRPr lang="en-US" sz="920" dirty="0"/>
          </a:p>
          <a:p>
            <a:pPr indent="0" marL="0">
              <a:buNone/>
            </a:pPr>
            <a:r>
              <a:rPr lang="en-US" sz="920" dirty="0">
                <a:solidFill>
                  <a:srgbClr val="5B667A"/>
                </a:solidFill>
              </a:rPr>
              <a:t>• Component không chuẩn</a:t>
            </a:r>
            <a:endParaRPr lang="en-US" sz="920" dirty="0"/>
          </a:p>
          <a:p>
            <a:pPr indent="0" marL="0">
              <a:buNone/>
            </a:pPr>
            <a:r>
              <a:rPr lang="en-US" sz="920" dirty="0">
                <a:solidFill>
                  <a:srgbClr val="5B667A"/>
                </a:solidFill>
              </a:rPr>
              <a:t>• Contrast hoặc responsive lỗi</a:t>
            </a:r>
            <a:endParaRPr lang="en-US" sz="920" dirty="0"/>
          </a:p>
        </p:txBody>
      </p:sp>
      <p:sp>
        <p:nvSpPr>
          <p:cNvPr id="11" name="Text 9"/>
          <p:cNvSpPr/>
          <p:nvPr/>
        </p:nvSpPr>
        <p:spPr>
          <a:xfrm>
            <a:off x="7909560" y="1417320"/>
            <a:ext cx="205740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D97706"/>
                </a:solidFill>
              </a:rPr>
              <a:t>4. Consistency</a:t>
            </a:r>
            <a:endParaRPr lang="en-US" sz="1150" dirty="0"/>
          </a:p>
        </p:txBody>
      </p:sp>
      <p:sp>
        <p:nvSpPr>
          <p:cNvPr id="12" name="Text 10"/>
          <p:cNvSpPr/>
          <p:nvPr/>
        </p:nvSpPr>
        <p:spPr>
          <a:xfrm>
            <a:off x="7909560" y="1801368"/>
            <a:ext cx="2057400" cy="138988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Cùng chức năng khác component</a:t>
            </a:r>
            <a:endParaRPr lang="en-US" sz="920" dirty="0"/>
          </a:p>
          <a:p>
            <a:pPr indent="0" marL="0">
              <a:buNone/>
            </a:pPr>
            <a:r>
              <a:rPr lang="en-US" sz="920" dirty="0">
                <a:solidFill>
                  <a:srgbClr val="5B667A"/>
                </a:solidFill>
              </a:rPr>
              <a:t>• Thuật ngữ không thống nhất</a:t>
            </a:r>
            <a:endParaRPr lang="en-US" sz="920" dirty="0"/>
          </a:p>
          <a:p>
            <a:pPr indent="0" marL="0">
              <a:buNone/>
            </a:pPr>
            <a:r>
              <a:rPr lang="en-US" sz="920" dirty="0">
                <a:solidFill>
                  <a:srgbClr val="5B667A"/>
                </a:solidFill>
              </a:rPr>
              <a:t>• Pattern cũ bị phá vỡ</a:t>
            </a:r>
            <a:endParaRPr lang="en-US" sz="920" dirty="0"/>
          </a:p>
          <a:p>
            <a:pPr indent="0" marL="0">
              <a:buNone/>
            </a:pPr>
            <a:r>
              <a:rPr lang="en-US" sz="920" dirty="0">
                <a:solidFill>
                  <a:srgbClr val="5B667A"/>
                </a:solidFill>
              </a:rPr>
              <a:t>• Design System conflict</a:t>
            </a:r>
            <a:endParaRPr lang="en-US" sz="920" dirty="0"/>
          </a:p>
        </p:txBody>
      </p:sp>
      <p:sp>
        <p:nvSpPr>
          <p:cNvPr id="13" name="Text 11"/>
          <p:cNvSpPr/>
          <p:nvPr/>
        </p:nvSpPr>
        <p:spPr>
          <a:xfrm>
            <a:off x="777240" y="3703320"/>
            <a:ext cx="4023360" cy="292608"/>
          </a:xfrm>
          <a:prstGeom prst="rect">
            <a:avLst/>
          </a:prstGeom>
          <a:noFill/>
          <a:ln/>
        </p:spPr>
        <p:txBody>
          <a:bodyPr wrap="square" lIns="0" tIns="0" rIns="0" bIns="0" rtlCol="0" anchor="ctr"/>
          <a:lstStyle/>
          <a:p>
            <a:pPr indent="0" marL="0">
              <a:buNone/>
            </a:pPr>
            <a:r>
              <a:rPr lang="en-US" sz="1400" b="1" dirty="0">
                <a:solidFill>
                  <a:srgbClr val="182033"/>
                </a:solidFill>
              </a:rPr>
              <a:t>Đầu ra validation cần có cấu trúc</a:t>
            </a:r>
            <a:endParaRPr lang="en-US" sz="1400" dirty="0"/>
          </a:p>
        </p:txBody>
      </p:sp>
      <p:sp>
        <p:nvSpPr>
          <p:cNvPr id="14" name="Text 12"/>
          <p:cNvSpPr/>
          <p:nvPr/>
        </p:nvSpPr>
        <p:spPr>
          <a:xfrm>
            <a:off x="1005840" y="4297680"/>
            <a:ext cx="1828800" cy="566928"/>
          </a:xfrm>
          <a:prstGeom prst="rect">
            <a:avLst/>
          </a:prstGeom>
          <a:solidFill>
            <a:srgbClr val="FFE4E6"/>
          </a:solidFill>
          <a:ln w="13970">
            <a:solidFill>
              <a:srgbClr val="E11D48"/>
            </a:solidFill>
          </a:ln>
        </p:spPr>
        <p:txBody>
          <a:bodyPr wrap="square" lIns="1016" tIns="1016" rIns="1016" bIns="1016" rtlCol="0" anchor="ctr">
            <a:normAutofit/>
          </a:bodyPr>
          <a:lstStyle/>
          <a:p>
            <a:pPr algn="ctr" indent="0" marL="0">
              <a:buNone/>
            </a:pPr>
            <a:r>
              <a:rPr lang="en-US" sz="1050" b="1" dirty="0">
                <a:solidFill>
                  <a:srgbClr val="E11D48"/>
                </a:solidFill>
              </a:rPr>
              <a:t>Finding</a:t>
            </a:r>
            <a:endParaRPr lang="en-US" sz="1050" dirty="0"/>
          </a:p>
          <a:p>
            <a:pPr algn="ctr" indent="0" marL="0">
              <a:buNone/>
            </a:pPr>
            <a:r>
              <a:rPr lang="en-US" sz="1050" b="1" dirty="0">
                <a:solidFill>
                  <a:srgbClr val="E11D48"/>
                </a:solidFill>
              </a:rPr>
              <a:t>Error / Warning</a:t>
            </a:r>
            <a:endParaRPr lang="en-US" sz="1050" dirty="0"/>
          </a:p>
        </p:txBody>
      </p:sp>
      <p:sp>
        <p:nvSpPr>
          <p:cNvPr id="15" name="Shape 13"/>
          <p:cNvSpPr/>
          <p:nvPr/>
        </p:nvSpPr>
        <p:spPr>
          <a:xfrm>
            <a:off x="2852928" y="4581144"/>
            <a:ext cx="393192" cy="0"/>
          </a:xfrm>
          <a:prstGeom prst="line">
            <a:avLst/>
          </a:prstGeom>
          <a:noFill/>
          <a:ln w="19050">
            <a:solidFill>
              <a:srgbClr val="5B667A"/>
            </a:solidFill>
            <a:prstDash val="solid"/>
            <a:headEnd type="none"/>
            <a:tailEnd type="triangle"/>
          </a:ln>
        </p:spPr>
      </p:sp>
      <p:sp>
        <p:nvSpPr>
          <p:cNvPr id="16" name="Text 14"/>
          <p:cNvSpPr/>
          <p:nvPr/>
        </p:nvSpPr>
        <p:spPr>
          <a:xfrm>
            <a:off x="3273552" y="4297680"/>
            <a:ext cx="1828800" cy="566928"/>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050" b="1" dirty="0">
                <a:solidFill>
                  <a:srgbClr val="7C3AED"/>
                </a:solidFill>
              </a:rPr>
              <a:t>Vị trí</a:t>
            </a:r>
            <a:endParaRPr lang="en-US" sz="1050" dirty="0"/>
          </a:p>
          <a:p>
            <a:pPr algn="ctr" indent="0" marL="0">
              <a:buNone/>
            </a:pPr>
            <a:r>
              <a:rPr lang="en-US" sz="1050" b="1" dirty="0">
                <a:solidFill>
                  <a:srgbClr val="7C3AED"/>
                </a:solidFill>
              </a:rPr>
              <a:t>Screen / BPMN node</a:t>
            </a:r>
            <a:endParaRPr lang="en-US" sz="1050" dirty="0"/>
          </a:p>
        </p:txBody>
      </p:sp>
      <p:sp>
        <p:nvSpPr>
          <p:cNvPr id="17" name="Shape 15"/>
          <p:cNvSpPr/>
          <p:nvPr/>
        </p:nvSpPr>
        <p:spPr>
          <a:xfrm>
            <a:off x="5120640" y="4581144"/>
            <a:ext cx="393192" cy="0"/>
          </a:xfrm>
          <a:prstGeom prst="line">
            <a:avLst/>
          </a:prstGeom>
          <a:noFill/>
          <a:ln w="19050">
            <a:solidFill>
              <a:srgbClr val="5B667A"/>
            </a:solidFill>
            <a:prstDash val="solid"/>
            <a:headEnd type="none"/>
            <a:tailEnd type="triangle"/>
          </a:ln>
        </p:spPr>
      </p:sp>
      <p:sp>
        <p:nvSpPr>
          <p:cNvPr id="18" name="Text 16"/>
          <p:cNvSpPr/>
          <p:nvPr/>
        </p:nvSpPr>
        <p:spPr>
          <a:xfrm>
            <a:off x="5541264" y="4297680"/>
            <a:ext cx="1828800" cy="566928"/>
          </a:xfrm>
          <a:prstGeom prst="rect">
            <a:avLst/>
          </a:prstGeom>
          <a:solidFill>
            <a:srgbClr val="FEF3C7"/>
          </a:solidFill>
          <a:ln w="13970">
            <a:solidFill>
              <a:srgbClr val="D97706"/>
            </a:solidFill>
          </a:ln>
        </p:spPr>
        <p:txBody>
          <a:bodyPr wrap="square" lIns="1016" tIns="1016" rIns="1016" bIns="1016" rtlCol="0" anchor="ctr">
            <a:normAutofit/>
          </a:bodyPr>
          <a:lstStyle/>
          <a:p>
            <a:pPr algn="ctr" indent="0" marL="0">
              <a:buNone/>
            </a:pPr>
            <a:r>
              <a:rPr lang="en-US" sz="1050" b="1" dirty="0">
                <a:solidFill>
                  <a:srgbClr val="D97706"/>
                </a:solidFill>
              </a:rPr>
              <a:t>Lý do</a:t>
            </a:r>
            <a:endParaRPr lang="en-US" sz="1050" dirty="0"/>
          </a:p>
          <a:p>
            <a:pPr algn="ctr" indent="0" marL="0">
              <a:buNone/>
            </a:pPr>
            <a:r>
              <a:rPr lang="en-US" sz="1050" b="1" dirty="0">
                <a:solidFill>
                  <a:srgbClr val="D97706"/>
                </a:solidFill>
              </a:rPr>
              <a:t>Quy tắc bị vi phạm</a:t>
            </a:r>
            <a:endParaRPr lang="en-US" sz="1050" dirty="0"/>
          </a:p>
        </p:txBody>
      </p:sp>
      <p:sp>
        <p:nvSpPr>
          <p:cNvPr id="19" name="Shape 17"/>
          <p:cNvSpPr/>
          <p:nvPr/>
        </p:nvSpPr>
        <p:spPr>
          <a:xfrm>
            <a:off x="7388352" y="4581144"/>
            <a:ext cx="393192" cy="0"/>
          </a:xfrm>
          <a:prstGeom prst="line">
            <a:avLst/>
          </a:prstGeom>
          <a:noFill/>
          <a:ln w="19050">
            <a:solidFill>
              <a:srgbClr val="5B667A"/>
            </a:solidFill>
            <a:prstDash val="solid"/>
            <a:headEnd type="none"/>
            <a:tailEnd type="triangle"/>
          </a:ln>
        </p:spPr>
      </p:sp>
      <p:sp>
        <p:nvSpPr>
          <p:cNvPr id="20" name="Text 18"/>
          <p:cNvSpPr/>
          <p:nvPr/>
        </p:nvSpPr>
        <p:spPr>
          <a:xfrm>
            <a:off x="7808976" y="4297680"/>
            <a:ext cx="1828800" cy="566928"/>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1050" b="1" dirty="0">
                <a:solidFill>
                  <a:srgbClr val="16A34A"/>
                </a:solidFill>
              </a:rPr>
              <a:t>Hành động</a:t>
            </a:r>
            <a:endParaRPr lang="en-US" sz="1050" dirty="0"/>
          </a:p>
          <a:p>
            <a:pPr algn="ctr" indent="0" marL="0">
              <a:buNone/>
            </a:pPr>
            <a:r>
              <a:rPr lang="en-US" sz="1050" b="1" dirty="0">
                <a:solidFill>
                  <a:srgbClr val="16A34A"/>
                </a:solidFill>
              </a:rPr>
              <a:t>Cần sửa gì</a:t>
            </a:r>
            <a:endParaRPr lang="en-US" sz="1050" dirty="0"/>
          </a:p>
        </p:txBody>
      </p:sp>
      <p:sp>
        <p:nvSpPr>
          <p:cNvPr id="21" name="Shape 19"/>
          <p:cNvSpPr/>
          <p:nvPr/>
        </p:nvSpPr>
        <p:spPr>
          <a:xfrm>
            <a:off x="9656064" y="4581144"/>
            <a:ext cx="393192" cy="0"/>
          </a:xfrm>
          <a:prstGeom prst="line">
            <a:avLst/>
          </a:prstGeom>
          <a:noFill/>
          <a:ln w="19050">
            <a:solidFill>
              <a:srgbClr val="5B667A"/>
            </a:solidFill>
            <a:prstDash val="solid"/>
            <a:headEnd type="none"/>
            <a:tailEnd type="triangle"/>
          </a:ln>
        </p:spPr>
      </p:sp>
      <p:sp>
        <p:nvSpPr>
          <p:cNvPr id="22" name="Text 20"/>
          <p:cNvSpPr/>
          <p:nvPr/>
        </p:nvSpPr>
        <p:spPr>
          <a:xfrm>
            <a:off x="10076688" y="4297680"/>
            <a:ext cx="1600200" cy="566928"/>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050" b="1" dirty="0">
                <a:solidFill>
                  <a:srgbClr val="2563EB"/>
                </a:solidFill>
              </a:rPr>
              <a:t>Re-validate</a:t>
            </a:r>
            <a:endParaRPr lang="en-US" sz="1050" dirty="0"/>
          </a:p>
          <a:p>
            <a:pPr algn="ctr" indent="0" marL="0">
              <a:buNone/>
            </a:pPr>
            <a:r>
              <a:rPr lang="en-US" sz="1050" b="1" dirty="0">
                <a:solidFill>
                  <a:srgbClr val="2563EB"/>
                </a:solidFill>
              </a:rPr>
              <a:t>Sau khi sửa</a:t>
            </a:r>
            <a:endParaRPr lang="en-US" sz="1050" dirty="0"/>
          </a:p>
        </p:txBody>
      </p:sp>
      <p:sp>
        <p:nvSpPr>
          <p:cNvPr id="23" name="Text 21"/>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8. Phân công công việc theo workstream</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Gợi ý chia nhóm để triển khai nhanh nhưng vẫn giữ được tiêu chuẩn đầu ra.</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548640" y="1298448"/>
            <a:ext cx="2103120" cy="347472"/>
          </a:xfrm>
          <a:prstGeom prst="rect">
            <a:avLst/>
          </a:prstGeom>
          <a:solidFill>
            <a:srgbClr val="2563EB"/>
          </a:solidFill>
          <a:ln>
            <a:solidFill>
              <a:srgbClr val="2563EB"/>
            </a:solidFill>
          </a:ln>
        </p:spPr>
        <p:txBody>
          <a:bodyPr wrap="square" lIns="635" tIns="635" rIns="635" bIns="635" rtlCol="0" anchor="ctr"/>
          <a:lstStyle/>
          <a:p>
            <a:pPr algn="ctr" indent="0" marL="0">
              <a:buNone/>
            </a:pPr>
            <a:r>
              <a:rPr lang="en-US" sz="900" b="1" dirty="0">
                <a:solidFill>
                  <a:srgbClr val="FFFFFF"/>
                </a:solidFill>
              </a:rPr>
              <a:t>Workstream</a:t>
            </a:r>
            <a:endParaRPr lang="en-US" sz="900" dirty="0"/>
          </a:p>
        </p:txBody>
      </p:sp>
      <p:sp>
        <p:nvSpPr>
          <p:cNvPr id="6" name="Text 4"/>
          <p:cNvSpPr/>
          <p:nvPr/>
        </p:nvSpPr>
        <p:spPr>
          <a:xfrm>
            <a:off x="2651760" y="1298448"/>
            <a:ext cx="2240280" cy="347472"/>
          </a:xfrm>
          <a:prstGeom prst="rect">
            <a:avLst/>
          </a:prstGeom>
          <a:solidFill>
            <a:srgbClr val="2563EB"/>
          </a:solidFill>
          <a:ln>
            <a:solidFill>
              <a:srgbClr val="2563EB"/>
            </a:solidFill>
          </a:ln>
        </p:spPr>
        <p:txBody>
          <a:bodyPr wrap="square" lIns="635" tIns="635" rIns="635" bIns="635" rtlCol="0" anchor="ctr"/>
          <a:lstStyle/>
          <a:p>
            <a:pPr algn="ctr" indent="0" marL="0">
              <a:buNone/>
            </a:pPr>
            <a:r>
              <a:rPr lang="en-US" sz="900" b="1" dirty="0">
                <a:solidFill>
                  <a:srgbClr val="FFFFFF"/>
                </a:solidFill>
              </a:rPr>
              <a:t>Chủ trì</a:t>
            </a:r>
            <a:endParaRPr lang="en-US" sz="900" dirty="0"/>
          </a:p>
        </p:txBody>
      </p:sp>
      <p:sp>
        <p:nvSpPr>
          <p:cNvPr id="7" name="Text 5"/>
          <p:cNvSpPr/>
          <p:nvPr/>
        </p:nvSpPr>
        <p:spPr>
          <a:xfrm>
            <a:off x="4892040" y="1298448"/>
            <a:ext cx="5166360" cy="347472"/>
          </a:xfrm>
          <a:prstGeom prst="rect">
            <a:avLst/>
          </a:prstGeom>
          <a:solidFill>
            <a:srgbClr val="2563EB"/>
          </a:solidFill>
          <a:ln>
            <a:solidFill>
              <a:srgbClr val="2563EB"/>
            </a:solidFill>
          </a:ln>
        </p:spPr>
        <p:txBody>
          <a:bodyPr wrap="square" lIns="635" tIns="635" rIns="635" bIns="635" rtlCol="0" anchor="ctr"/>
          <a:lstStyle/>
          <a:p>
            <a:pPr algn="ctr" indent="0" marL="0">
              <a:buNone/>
            </a:pPr>
            <a:r>
              <a:rPr lang="en-US" sz="900" b="1" dirty="0">
                <a:solidFill>
                  <a:srgbClr val="FFFFFF"/>
                </a:solidFill>
              </a:rPr>
              <a:t>Đầu ra chính</a:t>
            </a:r>
            <a:endParaRPr lang="en-US" sz="900" dirty="0"/>
          </a:p>
        </p:txBody>
      </p:sp>
      <p:sp>
        <p:nvSpPr>
          <p:cNvPr id="8" name="Text 6"/>
          <p:cNvSpPr/>
          <p:nvPr/>
        </p:nvSpPr>
        <p:spPr>
          <a:xfrm>
            <a:off x="10058400" y="1298448"/>
            <a:ext cx="1143000" cy="347472"/>
          </a:xfrm>
          <a:prstGeom prst="rect">
            <a:avLst/>
          </a:prstGeom>
          <a:solidFill>
            <a:srgbClr val="2563EB"/>
          </a:solidFill>
          <a:ln>
            <a:solidFill>
              <a:srgbClr val="2563EB"/>
            </a:solidFill>
          </a:ln>
        </p:spPr>
        <p:txBody>
          <a:bodyPr wrap="square" lIns="635" tIns="635" rIns="635" bIns="635" rtlCol="0" anchor="ctr"/>
          <a:lstStyle/>
          <a:p>
            <a:pPr algn="ctr" indent="0" marL="0">
              <a:buNone/>
            </a:pPr>
            <a:r>
              <a:rPr lang="en-US" sz="900" b="1" dirty="0">
                <a:solidFill>
                  <a:srgbClr val="FFFFFF"/>
                </a:solidFill>
              </a:rPr>
              <a:t>Ưu tiên</a:t>
            </a:r>
            <a:endParaRPr lang="en-US" sz="900" dirty="0"/>
          </a:p>
        </p:txBody>
      </p:sp>
      <p:sp>
        <p:nvSpPr>
          <p:cNvPr id="9" name="Text 7"/>
          <p:cNvSpPr/>
          <p:nvPr/>
        </p:nvSpPr>
        <p:spPr>
          <a:xfrm>
            <a:off x="548640" y="1645920"/>
            <a:ext cx="210312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b="1" dirty="0">
                <a:solidFill>
                  <a:srgbClr val="182033"/>
                </a:solidFill>
              </a:rPr>
              <a:t>WS1 Core Platform</a:t>
            </a:r>
            <a:endParaRPr lang="en-US" sz="830" dirty="0"/>
          </a:p>
        </p:txBody>
      </p:sp>
      <p:sp>
        <p:nvSpPr>
          <p:cNvPr id="10" name="Text 8"/>
          <p:cNvSpPr/>
          <p:nvPr/>
        </p:nvSpPr>
        <p:spPr>
          <a:xfrm>
            <a:off x="2651760" y="1645920"/>
            <a:ext cx="224028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Tech Lead / Backend</a:t>
            </a:r>
            <a:endParaRPr lang="en-US" sz="830" dirty="0"/>
          </a:p>
        </p:txBody>
      </p:sp>
      <p:sp>
        <p:nvSpPr>
          <p:cNvPr id="11" name="Text 9"/>
          <p:cNvSpPr/>
          <p:nvPr/>
        </p:nvSpPr>
        <p:spPr>
          <a:xfrm>
            <a:off x="4892040" y="1645920"/>
            <a:ext cx="516636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Design Session Manager, Artifact &amp; Version Service, Agyn integration</a:t>
            </a:r>
            <a:endParaRPr lang="en-US" sz="830" dirty="0"/>
          </a:p>
        </p:txBody>
      </p:sp>
      <p:sp>
        <p:nvSpPr>
          <p:cNvPr id="12" name="Text 10"/>
          <p:cNvSpPr/>
          <p:nvPr/>
        </p:nvSpPr>
        <p:spPr>
          <a:xfrm>
            <a:off x="10058400" y="1645920"/>
            <a:ext cx="1143000" cy="502920"/>
          </a:xfrm>
          <a:prstGeom prst="rect">
            <a:avLst/>
          </a:prstGeom>
          <a:solidFill>
            <a:srgbClr val="FFFFFF"/>
          </a:solidFill>
          <a:ln>
            <a:solidFill>
              <a:srgbClr val="E5EAF3"/>
            </a:solidFill>
          </a:ln>
        </p:spPr>
        <p:txBody>
          <a:bodyPr wrap="square" lIns="762" tIns="762" rIns="762" bIns="762" rtlCol="0" anchor="ctr">
            <a:normAutofit/>
          </a:bodyPr>
          <a:lstStyle/>
          <a:p>
            <a:pPr algn="ctr" indent="0" marL="0">
              <a:buNone/>
            </a:pPr>
            <a:r>
              <a:rPr lang="en-US" sz="830" b="1" dirty="0">
                <a:solidFill>
                  <a:srgbClr val="5B667A"/>
                </a:solidFill>
              </a:rPr>
              <a:t>P0</a:t>
            </a:r>
            <a:endParaRPr lang="en-US" sz="830" dirty="0"/>
          </a:p>
        </p:txBody>
      </p:sp>
      <p:sp>
        <p:nvSpPr>
          <p:cNvPr id="13" name="Text 11"/>
          <p:cNvSpPr/>
          <p:nvPr/>
        </p:nvSpPr>
        <p:spPr>
          <a:xfrm>
            <a:off x="548640" y="2148840"/>
            <a:ext cx="210312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b="1" dirty="0">
                <a:solidFill>
                  <a:srgbClr val="182033"/>
                </a:solidFill>
              </a:rPr>
              <a:t>WS2 Design System</a:t>
            </a:r>
            <a:endParaRPr lang="en-US" sz="830" dirty="0"/>
          </a:p>
        </p:txBody>
      </p:sp>
      <p:sp>
        <p:nvSpPr>
          <p:cNvPr id="14" name="Text 12"/>
          <p:cNvSpPr/>
          <p:nvPr/>
        </p:nvSpPr>
        <p:spPr>
          <a:xfrm>
            <a:off x="2651760" y="2148840"/>
            <a:ext cx="224028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UI/UX Lead</a:t>
            </a:r>
            <a:endParaRPr lang="en-US" sz="830" dirty="0"/>
          </a:p>
        </p:txBody>
      </p:sp>
      <p:sp>
        <p:nvSpPr>
          <p:cNvPr id="15" name="Text 13"/>
          <p:cNvSpPr/>
          <p:nvPr/>
        </p:nvSpPr>
        <p:spPr>
          <a:xfrm>
            <a:off x="4892040" y="2148840"/>
            <a:ext cx="516636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UI/UX Standards Matrix, token, component, Penpot DS v1</a:t>
            </a:r>
            <a:endParaRPr lang="en-US" sz="830" dirty="0"/>
          </a:p>
        </p:txBody>
      </p:sp>
      <p:sp>
        <p:nvSpPr>
          <p:cNvPr id="16" name="Text 14"/>
          <p:cNvSpPr/>
          <p:nvPr/>
        </p:nvSpPr>
        <p:spPr>
          <a:xfrm>
            <a:off x="10058400" y="2148840"/>
            <a:ext cx="1143000" cy="502920"/>
          </a:xfrm>
          <a:prstGeom prst="rect">
            <a:avLst/>
          </a:prstGeom>
          <a:solidFill>
            <a:srgbClr val="F8FAFC"/>
          </a:solidFill>
          <a:ln>
            <a:solidFill>
              <a:srgbClr val="E5EAF3"/>
            </a:solidFill>
          </a:ln>
        </p:spPr>
        <p:txBody>
          <a:bodyPr wrap="square" lIns="762" tIns="762" rIns="762" bIns="762" rtlCol="0" anchor="ctr">
            <a:normAutofit/>
          </a:bodyPr>
          <a:lstStyle/>
          <a:p>
            <a:pPr algn="ctr" indent="0" marL="0">
              <a:buNone/>
            </a:pPr>
            <a:r>
              <a:rPr lang="en-US" sz="830" b="1" dirty="0">
                <a:solidFill>
                  <a:srgbClr val="5B667A"/>
                </a:solidFill>
              </a:rPr>
              <a:t>P0</a:t>
            </a:r>
            <a:endParaRPr lang="en-US" sz="830" dirty="0"/>
          </a:p>
        </p:txBody>
      </p:sp>
      <p:sp>
        <p:nvSpPr>
          <p:cNvPr id="17" name="Text 15"/>
          <p:cNvSpPr/>
          <p:nvPr/>
        </p:nvSpPr>
        <p:spPr>
          <a:xfrm>
            <a:off x="548640" y="2651760"/>
            <a:ext cx="210312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b="1" dirty="0">
                <a:solidFill>
                  <a:srgbClr val="182033"/>
                </a:solidFill>
              </a:rPr>
              <a:t>WS3 BA &amp; BPMN</a:t>
            </a:r>
            <a:endParaRPr lang="en-US" sz="830" dirty="0"/>
          </a:p>
        </p:txBody>
      </p:sp>
      <p:sp>
        <p:nvSpPr>
          <p:cNvPr id="18" name="Text 16"/>
          <p:cNvSpPr/>
          <p:nvPr/>
        </p:nvSpPr>
        <p:spPr>
          <a:xfrm>
            <a:off x="2651760" y="2651760"/>
            <a:ext cx="224028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BA Lead / PO</a:t>
            </a:r>
            <a:endParaRPr lang="en-US" sz="830" dirty="0"/>
          </a:p>
        </p:txBody>
      </p:sp>
      <p:sp>
        <p:nvSpPr>
          <p:cNvPr id="19" name="Text 17"/>
          <p:cNvSpPr/>
          <p:nvPr/>
        </p:nvSpPr>
        <p:spPr>
          <a:xfrm>
            <a:off x="4892040" y="2651760"/>
            <a:ext cx="516636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Feature Definition, User Story, AC, BPMN, review flow</a:t>
            </a:r>
            <a:endParaRPr lang="en-US" sz="830" dirty="0"/>
          </a:p>
        </p:txBody>
      </p:sp>
      <p:sp>
        <p:nvSpPr>
          <p:cNvPr id="20" name="Text 18"/>
          <p:cNvSpPr/>
          <p:nvPr/>
        </p:nvSpPr>
        <p:spPr>
          <a:xfrm>
            <a:off x="10058400" y="2651760"/>
            <a:ext cx="1143000" cy="502920"/>
          </a:xfrm>
          <a:prstGeom prst="rect">
            <a:avLst/>
          </a:prstGeom>
          <a:solidFill>
            <a:srgbClr val="FFFFFF"/>
          </a:solidFill>
          <a:ln>
            <a:solidFill>
              <a:srgbClr val="E5EAF3"/>
            </a:solidFill>
          </a:ln>
        </p:spPr>
        <p:txBody>
          <a:bodyPr wrap="square" lIns="762" tIns="762" rIns="762" bIns="762" rtlCol="0" anchor="ctr">
            <a:normAutofit/>
          </a:bodyPr>
          <a:lstStyle/>
          <a:p>
            <a:pPr algn="ctr" indent="0" marL="0">
              <a:buNone/>
            </a:pPr>
            <a:r>
              <a:rPr lang="en-US" sz="830" b="1" dirty="0">
                <a:solidFill>
                  <a:srgbClr val="5B667A"/>
                </a:solidFill>
              </a:rPr>
              <a:t>P0</a:t>
            </a:r>
            <a:endParaRPr lang="en-US" sz="830" dirty="0"/>
          </a:p>
        </p:txBody>
      </p:sp>
      <p:sp>
        <p:nvSpPr>
          <p:cNvPr id="21" name="Text 19"/>
          <p:cNvSpPr/>
          <p:nvPr/>
        </p:nvSpPr>
        <p:spPr>
          <a:xfrm>
            <a:off x="548640" y="3154680"/>
            <a:ext cx="210312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b="1" dirty="0">
                <a:solidFill>
                  <a:srgbClr val="182033"/>
                </a:solidFill>
              </a:rPr>
              <a:t>WS4 Feature Design</a:t>
            </a:r>
            <a:endParaRPr lang="en-US" sz="830" dirty="0"/>
          </a:p>
        </p:txBody>
      </p:sp>
      <p:sp>
        <p:nvSpPr>
          <p:cNvPr id="22" name="Text 20"/>
          <p:cNvSpPr/>
          <p:nvPr/>
        </p:nvSpPr>
        <p:spPr>
          <a:xfrm>
            <a:off x="2651760" y="3154680"/>
            <a:ext cx="224028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Senior UI/UX Designer</a:t>
            </a:r>
            <a:endParaRPr lang="en-US" sz="830" dirty="0"/>
          </a:p>
        </p:txBody>
      </p:sp>
      <p:sp>
        <p:nvSpPr>
          <p:cNvPr id="23" name="Text 21"/>
          <p:cNvSpPr/>
          <p:nvPr/>
        </p:nvSpPr>
        <p:spPr>
          <a:xfrm>
            <a:off x="4892040" y="3154680"/>
            <a:ext cx="516636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Screen inventory, screen flow, component mapping, Penpot prototype</a:t>
            </a:r>
            <a:endParaRPr lang="en-US" sz="830" dirty="0"/>
          </a:p>
        </p:txBody>
      </p:sp>
      <p:sp>
        <p:nvSpPr>
          <p:cNvPr id="24" name="Text 22"/>
          <p:cNvSpPr/>
          <p:nvPr/>
        </p:nvSpPr>
        <p:spPr>
          <a:xfrm>
            <a:off x="10058400" y="3154680"/>
            <a:ext cx="1143000" cy="502920"/>
          </a:xfrm>
          <a:prstGeom prst="rect">
            <a:avLst/>
          </a:prstGeom>
          <a:solidFill>
            <a:srgbClr val="F8FAFC"/>
          </a:solidFill>
          <a:ln>
            <a:solidFill>
              <a:srgbClr val="E5EAF3"/>
            </a:solidFill>
          </a:ln>
        </p:spPr>
        <p:txBody>
          <a:bodyPr wrap="square" lIns="762" tIns="762" rIns="762" bIns="762" rtlCol="0" anchor="ctr">
            <a:normAutofit/>
          </a:bodyPr>
          <a:lstStyle/>
          <a:p>
            <a:pPr algn="ctr" indent="0" marL="0">
              <a:buNone/>
            </a:pPr>
            <a:r>
              <a:rPr lang="en-US" sz="830" b="1" dirty="0">
                <a:solidFill>
                  <a:srgbClr val="5B667A"/>
                </a:solidFill>
              </a:rPr>
              <a:t>P1</a:t>
            </a:r>
            <a:endParaRPr lang="en-US" sz="830" dirty="0"/>
          </a:p>
        </p:txBody>
      </p:sp>
      <p:sp>
        <p:nvSpPr>
          <p:cNvPr id="25" name="Text 23"/>
          <p:cNvSpPr/>
          <p:nvPr/>
        </p:nvSpPr>
        <p:spPr>
          <a:xfrm>
            <a:off x="548640" y="3657600"/>
            <a:ext cx="210312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b="1" dirty="0">
                <a:solidFill>
                  <a:srgbClr val="182033"/>
                </a:solidFill>
              </a:rPr>
              <a:t>WS5 Validation</a:t>
            </a:r>
            <a:endParaRPr lang="en-US" sz="830" dirty="0"/>
          </a:p>
        </p:txBody>
      </p:sp>
      <p:sp>
        <p:nvSpPr>
          <p:cNvPr id="26" name="Text 24"/>
          <p:cNvSpPr/>
          <p:nvPr/>
        </p:nvSpPr>
        <p:spPr>
          <a:xfrm>
            <a:off x="2651760" y="3657600"/>
            <a:ext cx="224028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UI/UX Lead + QA</a:t>
            </a:r>
            <a:endParaRPr lang="en-US" sz="830" dirty="0"/>
          </a:p>
        </p:txBody>
      </p:sp>
      <p:sp>
        <p:nvSpPr>
          <p:cNvPr id="27" name="Text 25"/>
          <p:cNvSpPr/>
          <p:nvPr/>
        </p:nvSpPr>
        <p:spPr>
          <a:xfrm>
            <a:off x="4892040" y="3657600"/>
            <a:ext cx="516636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Coverage, UX, UI, consistency validation report</a:t>
            </a:r>
            <a:endParaRPr lang="en-US" sz="830" dirty="0"/>
          </a:p>
        </p:txBody>
      </p:sp>
      <p:sp>
        <p:nvSpPr>
          <p:cNvPr id="28" name="Text 26"/>
          <p:cNvSpPr/>
          <p:nvPr/>
        </p:nvSpPr>
        <p:spPr>
          <a:xfrm>
            <a:off x="10058400" y="3657600"/>
            <a:ext cx="1143000" cy="502920"/>
          </a:xfrm>
          <a:prstGeom prst="rect">
            <a:avLst/>
          </a:prstGeom>
          <a:solidFill>
            <a:srgbClr val="FFFFFF"/>
          </a:solidFill>
          <a:ln>
            <a:solidFill>
              <a:srgbClr val="E5EAF3"/>
            </a:solidFill>
          </a:ln>
        </p:spPr>
        <p:txBody>
          <a:bodyPr wrap="square" lIns="762" tIns="762" rIns="762" bIns="762" rtlCol="0" anchor="ctr">
            <a:normAutofit/>
          </a:bodyPr>
          <a:lstStyle/>
          <a:p>
            <a:pPr algn="ctr" indent="0" marL="0">
              <a:buNone/>
            </a:pPr>
            <a:r>
              <a:rPr lang="en-US" sz="830" b="1" dirty="0">
                <a:solidFill>
                  <a:srgbClr val="5B667A"/>
                </a:solidFill>
              </a:rPr>
              <a:t>P1</a:t>
            </a:r>
            <a:endParaRPr lang="en-US" sz="830" dirty="0"/>
          </a:p>
        </p:txBody>
      </p:sp>
      <p:sp>
        <p:nvSpPr>
          <p:cNvPr id="29" name="Text 27"/>
          <p:cNvSpPr/>
          <p:nvPr/>
        </p:nvSpPr>
        <p:spPr>
          <a:xfrm>
            <a:off x="548640" y="4160520"/>
            <a:ext cx="210312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b="1" dirty="0">
                <a:solidFill>
                  <a:srgbClr val="182033"/>
                </a:solidFill>
              </a:rPr>
              <a:t>WS6 Integration</a:t>
            </a:r>
            <a:endParaRPr lang="en-US" sz="830" dirty="0"/>
          </a:p>
        </p:txBody>
      </p:sp>
      <p:sp>
        <p:nvSpPr>
          <p:cNvPr id="30" name="Text 28"/>
          <p:cNvSpPr/>
          <p:nvPr/>
        </p:nvSpPr>
        <p:spPr>
          <a:xfrm>
            <a:off x="2651760" y="4160520"/>
            <a:ext cx="224028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Integration Engineer</a:t>
            </a:r>
            <a:endParaRPr lang="en-US" sz="830" dirty="0"/>
          </a:p>
        </p:txBody>
      </p:sp>
      <p:sp>
        <p:nvSpPr>
          <p:cNvPr id="31" name="Text 29"/>
          <p:cNvSpPr/>
          <p:nvPr/>
        </p:nvSpPr>
        <p:spPr>
          <a:xfrm>
            <a:off x="4892040" y="4160520"/>
            <a:ext cx="5166360" cy="502920"/>
          </a:xfrm>
          <a:prstGeom prst="rect">
            <a:avLst/>
          </a:prstGeom>
          <a:solidFill>
            <a:srgbClr val="F8FAFC"/>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Penpot MCP, Huly link, storage, permission</a:t>
            </a:r>
            <a:endParaRPr lang="en-US" sz="830" dirty="0"/>
          </a:p>
        </p:txBody>
      </p:sp>
      <p:sp>
        <p:nvSpPr>
          <p:cNvPr id="32" name="Text 30"/>
          <p:cNvSpPr/>
          <p:nvPr/>
        </p:nvSpPr>
        <p:spPr>
          <a:xfrm>
            <a:off x="10058400" y="4160520"/>
            <a:ext cx="1143000" cy="502920"/>
          </a:xfrm>
          <a:prstGeom prst="rect">
            <a:avLst/>
          </a:prstGeom>
          <a:solidFill>
            <a:srgbClr val="F8FAFC"/>
          </a:solidFill>
          <a:ln>
            <a:solidFill>
              <a:srgbClr val="E5EAF3"/>
            </a:solidFill>
          </a:ln>
        </p:spPr>
        <p:txBody>
          <a:bodyPr wrap="square" lIns="762" tIns="762" rIns="762" bIns="762" rtlCol="0" anchor="ctr">
            <a:normAutofit/>
          </a:bodyPr>
          <a:lstStyle/>
          <a:p>
            <a:pPr algn="ctr" indent="0" marL="0">
              <a:buNone/>
            </a:pPr>
            <a:r>
              <a:rPr lang="en-US" sz="830" b="1" dirty="0">
                <a:solidFill>
                  <a:srgbClr val="5B667A"/>
                </a:solidFill>
              </a:rPr>
              <a:t>P1</a:t>
            </a:r>
            <a:endParaRPr lang="en-US" sz="830" dirty="0"/>
          </a:p>
        </p:txBody>
      </p:sp>
      <p:sp>
        <p:nvSpPr>
          <p:cNvPr id="33" name="Text 31"/>
          <p:cNvSpPr/>
          <p:nvPr/>
        </p:nvSpPr>
        <p:spPr>
          <a:xfrm>
            <a:off x="548640" y="4663440"/>
            <a:ext cx="210312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b="1" dirty="0">
                <a:solidFill>
                  <a:srgbClr val="182033"/>
                </a:solidFill>
              </a:rPr>
              <a:t>WS7 Pilot</a:t>
            </a:r>
            <a:endParaRPr lang="en-US" sz="830" dirty="0"/>
          </a:p>
        </p:txBody>
      </p:sp>
      <p:sp>
        <p:nvSpPr>
          <p:cNvPr id="34" name="Text 32"/>
          <p:cNvSpPr/>
          <p:nvPr/>
        </p:nvSpPr>
        <p:spPr>
          <a:xfrm>
            <a:off x="2651760" y="4663440"/>
            <a:ext cx="224028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Product Owner</a:t>
            </a:r>
            <a:endParaRPr lang="en-US" sz="830" dirty="0"/>
          </a:p>
        </p:txBody>
      </p:sp>
      <p:sp>
        <p:nvSpPr>
          <p:cNvPr id="35" name="Text 33"/>
          <p:cNvSpPr/>
          <p:nvPr/>
        </p:nvSpPr>
        <p:spPr>
          <a:xfrm>
            <a:off x="4892040" y="4663440"/>
            <a:ext cx="5166360" cy="502920"/>
          </a:xfrm>
          <a:prstGeom prst="rect">
            <a:avLst/>
          </a:prstGeom>
          <a:solidFill>
            <a:srgbClr val="FFFFFF"/>
          </a:solidFill>
          <a:ln>
            <a:solidFill>
              <a:srgbClr val="E5EAF3"/>
            </a:solidFill>
          </a:ln>
        </p:spPr>
        <p:txBody>
          <a:bodyPr wrap="square" lIns="762" tIns="762" rIns="762" bIns="762" rtlCol="0" anchor="ctr">
            <a:normAutofit/>
          </a:bodyPr>
          <a:lstStyle/>
          <a:p>
            <a:pPr algn="l" indent="0" marL="0">
              <a:buNone/>
            </a:pPr>
            <a:r>
              <a:rPr lang="en-US" sz="830" dirty="0">
                <a:solidFill>
                  <a:srgbClr val="5B667A"/>
                </a:solidFill>
              </a:rPr>
              <a:t>1 feature thật, 3–5 màn hình, có nhánh lỗi và validation</a:t>
            </a:r>
            <a:endParaRPr lang="en-US" sz="830" dirty="0"/>
          </a:p>
        </p:txBody>
      </p:sp>
      <p:sp>
        <p:nvSpPr>
          <p:cNvPr id="36" name="Text 34"/>
          <p:cNvSpPr/>
          <p:nvPr/>
        </p:nvSpPr>
        <p:spPr>
          <a:xfrm>
            <a:off x="10058400" y="4663440"/>
            <a:ext cx="1143000" cy="502920"/>
          </a:xfrm>
          <a:prstGeom prst="rect">
            <a:avLst/>
          </a:prstGeom>
          <a:solidFill>
            <a:srgbClr val="FFFFFF"/>
          </a:solidFill>
          <a:ln>
            <a:solidFill>
              <a:srgbClr val="E5EAF3"/>
            </a:solidFill>
          </a:ln>
        </p:spPr>
        <p:txBody>
          <a:bodyPr wrap="square" lIns="762" tIns="762" rIns="762" bIns="762" rtlCol="0" anchor="ctr">
            <a:normAutofit/>
          </a:bodyPr>
          <a:lstStyle/>
          <a:p>
            <a:pPr algn="ctr" indent="0" marL="0">
              <a:buNone/>
            </a:pPr>
            <a:r>
              <a:rPr lang="en-US" sz="830" b="1" dirty="0">
                <a:solidFill>
                  <a:srgbClr val="5B667A"/>
                </a:solidFill>
              </a:rPr>
              <a:t>P1</a:t>
            </a:r>
            <a:endParaRPr lang="en-US" sz="830" dirty="0"/>
          </a:p>
        </p:txBody>
      </p:sp>
      <p:sp>
        <p:nvSpPr>
          <p:cNvPr id="37" name="Text 35"/>
          <p:cNvSpPr/>
          <p:nvPr/>
        </p:nvSpPr>
        <p:spPr>
          <a:xfrm>
            <a:off x="868680" y="5650992"/>
            <a:ext cx="1024128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E11D48"/>
                </a:solidFill>
              </a:rPr>
              <a:t>Lưu ý assign</a:t>
            </a:r>
            <a:endParaRPr lang="en-US" sz="1150" dirty="0"/>
          </a:p>
        </p:txBody>
      </p:sp>
      <p:sp>
        <p:nvSpPr>
          <p:cNvPr id="38" name="Text 36"/>
          <p:cNvSpPr/>
          <p:nvPr/>
        </p:nvSpPr>
        <p:spPr>
          <a:xfrm>
            <a:off x="868680" y="6035040"/>
            <a:ext cx="10241280" cy="109728"/>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UI/UX Lead và BA/PO phải tham gia xây tiêu chuẩn từ đầu, không chỉ test sau khi dev đã làm xong. Nếu thiếu tiêu chuẩn đầu ra, agent sẽ tiếp tục sinh nhiều nội dung rời rạc và gây overload cho team.</a:t>
            </a:r>
            <a:endParaRPr lang="en-US" sz="920" dirty="0"/>
          </a:p>
        </p:txBody>
      </p:sp>
      <p:sp>
        <p:nvSpPr>
          <p:cNvPr id="39" name="Text 37"/>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10896"/>
            <a:ext cx="7863840" cy="384048"/>
          </a:xfrm>
          <a:prstGeom prst="rect">
            <a:avLst/>
          </a:prstGeom>
          <a:noFill/>
          <a:ln/>
        </p:spPr>
        <p:txBody>
          <a:bodyPr wrap="square" lIns="0" tIns="0" rIns="0" bIns="0" rtlCol="0" anchor="ctr"/>
          <a:lstStyle/>
          <a:p>
            <a:pPr indent="0" marL="0">
              <a:buNone/>
            </a:pPr>
            <a:r>
              <a:rPr lang="en-US" sz="2000" b="1" dirty="0">
                <a:solidFill>
                  <a:srgbClr val="182033"/>
                </a:solidFill>
                <a:latin typeface="Aptos Display" pitchFamily="34" charset="0"/>
                <a:ea typeface="Aptos Display" pitchFamily="34" charset="-122"/>
                <a:cs typeface="Aptos Display" pitchFamily="34" charset="-120"/>
              </a:rPr>
              <a:t>9. Thứ tự triển khai đề xuất</a:t>
            </a:r>
            <a:endParaRPr lang="en-US" sz="2000" dirty="0"/>
          </a:p>
        </p:txBody>
      </p:sp>
      <p:sp>
        <p:nvSpPr>
          <p:cNvPr id="3" name="Text 1"/>
          <p:cNvSpPr/>
          <p:nvPr/>
        </p:nvSpPr>
        <p:spPr>
          <a:xfrm>
            <a:off x="502920" y="713232"/>
            <a:ext cx="9692640" cy="274320"/>
          </a:xfrm>
          <a:prstGeom prst="rect">
            <a:avLst/>
          </a:prstGeom>
          <a:noFill/>
          <a:ln/>
        </p:spPr>
        <p:txBody>
          <a:bodyPr wrap="square" lIns="0" tIns="0" rIns="0" bIns="0" rtlCol="0" anchor="ctr"/>
          <a:lstStyle/>
          <a:p>
            <a:pPr indent="0" marL="0">
              <a:buNone/>
            </a:pPr>
            <a:r>
              <a:rPr lang="en-US" sz="950" dirty="0">
                <a:solidFill>
                  <a:srgbClr val="5B667A"/>
                </a:solidFill>
              </a:rPr>
              <a:t>Chia nhỏ để team có thể bắt đầu ngay và kiểm tra bằng một pilot thực tế.</a:t>
            </a:r>
            <a:endParaRPr lang="en-US" sz="950" dirty="0"/>
          </a:p>
        </p:txBody>
      </p:sp>
      <p:sp>
        <p:nvSpPr>
          <p:cNvPr id="4" name="Shape 2"/>
          <p:cNvSpPr/>
          <p:nvPr/>
        </p:nvSpPr>
        <p:spPr>
          <a:xfrm>
            <a:off x="502920" y="1051560"/>
            <a:ext cx="11109960" cy="0"/>
          </a:xfrm>
          <a:prstGeom prst="line">
            <a:avLst/>
          </a:prstGeom>
          <a:noFill/>
          <a:ln w="12700">
            <a:solidFill>
              <a:srgbClr val="D9E2EF"/>
            </a:solidFill>
            <a:prstDash val="solid"/>
          </a:ln>
        </p:spPr>
      </p:sp>
      <p:sp>
        <p:nvSpPr>
          <p:cNvPr id="5" name="Text 3"/>
          <p:cNvSpPr/>
          <p:nvPr/>
        </p:nvSpPr>
        <p:spPr>
          <a:xfrm>
            <a:off x="822960" y="1325880"/>
            <a:ext cx="2057400" cy="694944"/>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000" b="1" dirty="0">
                <a:solidFill>
                  <a:srgbClr val="2563EB"/>
                </a:solidFill>
              </a:rPr>
              <a:t>Giai đoạn 1</a:t>
            </a:r>
            <a:endParaRPr lang="en-US" sz="1000" dirty="0"/>
          </a:p>
          <a:p>
            <a:pPr algn="ctr" indent="0" marL="0">
              <a:buNone/>
            </a:pPr>
            <a:r>
              <a:rPr lang="en-US" sz="1000" b="1" dirty="0">
                <a:solidFill>
                  <a:srgbClr val="2563EB"/>
                </a:solidFill>
              </a:rPr>
              <a:t>Chuẩn hóa đầu ra</a:t>
            </a:r>
            <a:endParaRPr lang="en-US" sz="1000" dirty="0"/>
          </a:p>
        </p:txBody>
      </p:sp>
      <p:sp>
        <p:nvSpPr>
          <p:cNvPr id="6" name="Text 4"/>
          <p:cNvSpPr/>
          <p:nvPr/>
        </p:nvSpPr>
        <p:spPr>
          <a:xfrm>
            <a:off x="3246120" y="1344168"/>
            <a:ext cx="7040880" cy="658368"/>
          </a:xfrm>
          <a:prstGeom prst="rect">
            <a:avLst/>
          </a:prstGeom>
          <a:noFill/>
          <a:ln/>
        </p:spPr>
        <p:txBody>
          <a:bodyPr wrap="square" lIns="254" tIns="254" rIns="254" bIns="254" rtlCol="0" anchor="ctr">
            <a:normAutofit/>
          </a:bodyPr>
          <a:lstStyle/>
          <a:p>
            <a:pPr indent="0" marL="0">
              <a:buNone/>
            </a:pPr>
            <a:r>
              <a:rPr lang="en-US" sz="940" dirty="0">
                <a:solidFill>
                  <a:srgbClr val="182033"/>
                </a:solidFill>
              </a:rPr>
              <a:t>• UI/UX Standards Matrix mẫu</a:t>
            </a:r>
            <a:endParaRPr lang="en-US" sz="940" dirty="0"/>
          </a:p>
          <a:p>
            <a:pPr indent="0" marL="0">
              <a:buNone/>
            </a:pPr>
            <a:r>
              <a:rPr lang="en-US" sz="940" dirty="0">
                <a:solidFill>
                  <a:srgbClr val="182033"/>
                </a:solidFill>
              </a:rPr>
              <a:t>• Schema User Story, BPMN, Screen, Finding</a:t>
            </a:r>
            <a:endParaRPr lang="en-US" sz="940" dirty="0"/>
          </a:p>
          <a:p>
            <a:pPr indent="0" marL="0">
              <a:buNone/>
            </a:pPr>
            <a:r>
              <a:rPr lang="en-US" sz="940" dirty="0">
                <a:solidFill>
                  <a:srgbClr val="182033"/>
                </a:solidFill>
              </a:rPr>
              <a:t>• Chọn project và feature pilot</a:t>
            </a:r>
            <a:endParaRPr lang="en-US" sz="940" dirty="0"/>
          </a:p>
        </p:txBody>
      </p:sp>
      <p:sp>
        <p:nvSpPr>
          <p:cNvPr id="7" name="Shape 5"/>
          <p:cNvSpPr/>
          <p:nvPr/>
        </p:nvSpPr>
        <p:spPr>
          <a:xfrm>
            <a:off x="1856232" y="2057400"/>
            <a:ext cx="0" cy="228600"/>
          </a:xfrm>
          <a:prstGeom prst="line">
            <a:avLst/>
          </a:prstGeom>
          <a:noFill/>
          <a:ln w="19050">
            <a:solidFill>
              <a:srgbClr val="94A3B8"/>
            </a:solidFill>
            <a:prstDash val="solid"/>
            <a:headEnd type="none"/>
            <a:tailEnd type="triangle"/>
          </a:ln>
        </p:spPr>
      </p:sp>
      <p:sp>
        <p:nvSpPr>
          <p:cNvPr id="8" name="Text 6"/>
          <p:cNvSpPr/>
          <p:nvPr/>
        </p:nvSpPr>
        <p:spPr>
          <a:xfrm>
            <a:off x="822960" y="2313432"/>
            <a:ext cx="2057400" cy="694944"/>
          </a:xfrm>
          <a:prstGeom prst="rect">
            <a:avLst/>
          </a:prstGeom>
          <a:solidFill>
            <a:srgbClr val="CCFBF1"/>
          </a:solidFill>
          <a:ln w="13970">
            <a:solidFill>
              <a:srgbClr val="0F766E"/>
            </a:solidFill>
          </a:ln>
        </p:spPr>
        <p:txBody>
          <a:bodyPr wrap="square" lIns="1016" tIns="1016" rIns="1016" bIns="1016" rtlCol="0" anchor="ctr">
            <a:normAutofit/>
          </a:bodyPr>
          <a:lstStyle/>
          <a:p>
            <a:pPr algn="ctr" indent="0" marL="0">
              <a:buNone/>
            </a:pPr>
            <a:r>
              <a:rPr lang="en-US" sz="1000" b="1" dirty="0">
                <a:solidFill>
                  <a:srgbClr val="0F766E"/>
                </a:solidFill>
              </a:rPr>
              <a:t>Giai đoạn 2</a:t>
            </a:r>
            <a:endParaRPr lang="en-US" sz="1000" dirty="0"/>
          </a:p>
          <a:p>
            <a:pPr algn="ctr" indent="0" marL="0">
              <a:buNone/>
            </a:pPr>
            <a:r>
              <a:rPr lang="en-US" sz="1000" b="1" dirty="0">
                <a:solidFill>
                  <a:srgbClr val="0F766E"/>
                </a:solidFill>
              </a:rPr>
              <a:t>Nền tảng tối thiểu</a:t>
            </a:r>
            <a:endParaRPr lang="en-US" sz="1000" dirty="0"/>
          </a:p>
        </p:txBody>
      </p:sp>
      <p:sp>
        <p:nvSpPr>
          <p:cNvPr id="9" name="Text 7"/>
          <p:cNvSpPr/>
          <p:nvPr/>
        </p:nvSpPr>
        <p:spPr>
          <a:xfrm>
            <a:off x="3246120" y="2331720"/>
            <a:ext cx="7040880" cy="658368"/>
          </a:xfrm>
          <a:prstGeom prst="rect">
            <a:avLst/>
          </a:prstGeom>
          <a:noFill/>
          <a:ln/>
        </p:spPr>
        <p:txBody>
          <a:bodyPr wrap="square" lIns="254" tIns="254" rIns="254" bIns="254" rtlCol="0" anchor="ctr">
            <a:normAutofit/>
          </a:bodyPr>
          <a:lstStyle/>
          <a:p>
            <a:pPr indent="0" marL="0">
              <a:buNone/>
            </a:pPr>
            <a:r>
              <a:rPr lang="en-US" sz="940" dirty="0">
                <a:solidFill>
                  <a:srgbClr val="182033"/>
                </a:solidFill>
              </a:rPr>
              <a:t>• Design Session Manager</a:t>
            </a:r>
            <a:endParaRPr lang="en-US" sz="940" dirty="0"/>
          </a:p>
          <a:p>
            <a:pPr indent="0" marL="0">
              <a:buNone/>
            </a:pPr>
            <a:r>
              <a:rPr lang="en-US" sz="940" dirty="0">
                <a:solidFill>
                  <a:srgbClr val="182033"/>
                </a:solidFill>
              </a:rPr>
              <a:t>• Artifact &amp; Version Service</a:t>
            </a:r>
            <a:endParaRPr lang="en-US" sz="940" dirty="0"/>
          </a:p>
          <a:p>
            <a:pPr indent="0" marL="0">
              <a:buNone/>
            </a:pPr>
            <a:r>
              <a:rPr lang="en-US" sz="940" dirty="0">
                <a:solidFill>
                  <a:srgbClr val="182033"/>
                </a:solidFill>
              </a:rPr>
              <a:t>• Agyn + Penpot connection</a:t>
            </a:r>
            <a:endParaRPr lang="en-US" sz="940" dirty="0"/>
          </a:p>
          <a:p>
            <a:pPr indent="0" marL="0">
              <a:buNone/>
            </a:pPr>
            <a:r>
              <a:rPr lang="en-US" sz="940" dirty="0">
                <a:solidFill>
                  <a:srgbClr val="182033"/>
                </a:solidFill>
              </a:rPr>
              <a:t>• BPMN storage/viewer</a:t>
            </a:r>
            <a:endParaRPr lang="en-US" sz="940" dirty="0"/>
          </a:p>
        </p:txBody>
      </p:sp>
      <p:sp>
        <p:nvSpPr>
          <p:cNvPr id="10" name="Shape 8"/>
          <p:cNvSpPr/>
          <p:nvPr/>
        </p:nvSpPr>
        <p:spPr>
          <a:xfrm>
            <a:off x="1856232" y="3044952"/>
            <a:ext cx="0" cy="228600"/>
          </a:xfrm>
          <a:prstGeom prst="line">
            <a:avLst/>
          </a:prstGeom>
          <a:noFill/>
          <a:ln w="19050">
            <a:solidFill>
              <a:srgbClr val="94A3B8"/>
            </a:solidFill>
            <a:prstDash val="solid"/>
            <a:headEnd type="none"/>
            <a:tailEnd type="triangle"/>
          </a:ln>
        </p:spPr>
      </p:sp>
      <p:sp>
        <p:nvSpPr>
          <p:cNvPr id="11" name="Text 9"/>
          <p:cNvSpPr/>
          <p:nvPr/>
        </p:nvSpPr>
        <p:spPr>
          <a:xfrm>
            <a:off x="822960" y="3300984"/>
            <a:ext cx="2057400" cy="694944"/>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000" b="1" dirty="0">
                <a:solidFill>
                  <a:srgbClr val="7C3AED"/>
                </a:solidFill>
              </a:rPr>
              <a:t>Giai đoạn 3</a:t>
            </a:r>
            <a:endParaRPr lang="en-US" sz="1000" dirty="0"/>
          </a:p>
          <a:p>
            <a:pPr algn="ctr" indent="0" marL="0">
              <a:buNone/>
            </a:pPr>
            <a:r>
              <a:rPr lang="en-US" sz="1000" b="1" dirty="0">
                <a:solidFill>
                  <a:srgbClr val="7C3AED"/>
                </a:solidFill>
              </a:rPr>
              <a:t>Xây agent</a:t>
            </a:r>
            <a:endParaRPr lang="en-US" sz="1000" dirty="0"/>
          </a:p>
        </p:txBody>
      </p:sp>
      <p:sp>
        <p:nvSpPr>
          <p:cNvPr id="12" name="Text 10"/>
          <p:cNvSpPr/>
          <p:nvPr/>
        </p:nvSpPr>
        <p:spPr>
          <a:xfrm>
            <a:off x="3246120" y="3319272"/>
            <a:ext cx="7040880" cy="658368"/>
          </a:xfrm>
          <a:prstGeom prst="rect">
            <a:avLst/>
          </a:prstGeom>
          <a:noFill/>
          <a:ln/>
        </p:spPr>
        <p:txBody>
          <a:bodyPr wrap="square" lIns="254" tIns="254" rIns="254" bIns="254" rtlCol="0" anchor="ctr">
            <a:normAutofit/>
          </a:bodyPr>
          <a:lstStyle/>
          <a:p>
            <a:pPr indent="0" marL="0">
              <a:buNone/>
            </a:pPr>
            <a:r>
              <a:rPr lang="en-US" sz="940" dirty="0">
                <a:solidFill>
                  <a:srgbClr val="182033"/>
                </a:solidFill>
              </a:rPr>
              <a:t>• Design System Agent</a:t>
            </a:r>
            <a:endParaRPr lang="en-US" sz="940" dirty="0"/>
          </a:p>
          <a:p>
            <a:pPr indent="0" marL="0">
              <a:buNone/>
            </a:pPr>
            <a:r>
              <a:rPr lang="en-US" sz="940" dirty="0">
                <a:solidFill>
                  <a:srgbClr val="182033"/>
                </a:solidFill>
              </a:rPr>
              <a:t>• BA Agent</a:t>
            </a:r>
            <a:endParaRPr lang="en-US" sz="940" dirty="0"/>
          </a:p>
          <a:p>
            <a:pPr indent="0" marL="0">
              <a:buNone/>
            </a:pPr>
            <a:r>
              <a:rPr lang="en-US" sz="940" dirty="0">
                <a:solidFill>
                  <a:srgbClr val="182033"/>
                </a:solidFill>
              </a:rPr>
              <a:t>• Feature Designer Agent</a:t>
            </a:r>
            <a:endParaRPr lang="en-US" sz="940" dirty="0"/>
          </a:p>
          <a:p>
            <a:pPr indent="0" marL="0">
              <a:buNone/>
            </a:pPr>
            <a:r>
              <a:rPr lang="en-US" sz="940" dirty="0">
                <a:solidFill>
                  <a:srgbClr val="182033"/>
                </a:solidFill>
              </a:rPr>
              <a:t>• Validation Agent</a:t>
            </a:r>
            <a:endParaRPr lang="en-US" sz="940" dirty="0"/>
          </a:p>
        </p:txBody>
      </p:sp>
      <p:sp>
        <p:nvSpPr>
          <p:cNvPr id="13" name="Shape 11"/>
          <p:cNvSpPr/>
          <p:nvPr/>
        </p:nvSpPr>
        <p:spPr>
          <a:xfrm>
            <a:off x="1856232" y="4032504"/>
            <a:ext cx="0" cy="228600"/>
          </a:xfrm>
          <a:prstGeom prst="line">
            <a:avLst/>
          </a:prstGeom>
          <a:noFill/>
          <a:ln w="19050">
            <a:solidFill>
              <a:srgbClr val="94A3B8"/>
            </a:solidFill>
            <a:prstDash val="solid"/>
            <a:headEnd type="none"/>
            <a:tailEnd type="triangle"/>
          </a:ln>
        </p:spPr>
      </p:sp>
      <p:sp>
        <p:nvSpPr>
          <p:cNvPr id="14" name="Text 12"/>
          <p:cNvSpPr/>
          <p:nvPr/>
        </p:nvSpPr>
        <p:spPr>
          <a:xfrm>
            <a:off x="822960" y="4288536"/>
            <a:ext cx="2057400" cy="694944"/>
          </a:xfrm>
          <a:prstGeom prst="rect">
            <a:avLst/>
          </a:prstGeom>
          <a:solidFill>
            <a:srgbClr val="DCFCE7"/>
          </a:solidFill>
          <a:ln w="13970">
            <a:solidFill>
              <a:srgbClr val="16A34A"/>
            </a:solidFill>
          </a:ln>
        </p:spPr>
        <p:txBody>
          <a:bodyPr wrap="square" lIns="1016" tIns="1016" rIns="1016" bIns="1016" rtlCol="0" anchor="ctr">
            <a:normAutofit/>
          </a:bodyPr>
          <a:lstStyle/>
          <a:p>
            <a:pPr algn="ctr" indent="0" marL="0">
              <a:buNone/>
            </a:pPr>
            <a:r>
              <a:rPr lang="en-US" sz="1000" b="1" dirty="0">
                <a:solidFill>
                  <a:srgbClr val="16A34A"/>
                </a:solidFill>
              </a:rPr>
              <a:t>Giai đoạn 4</a:t>
            </a:r>
            <a:endParaRPr lang="en-US" sz="1000" dirty="0"/>
          </a:p>
          <a:p>
            <a:pPr algn="ctr" indent="0" marL="0">
              <a:buNone/>
            </a:pPr>
            <a:r>
              <a:rPr lang="en-US" sz="1000" b="1" dirty="0">
                <a:solidFill>
                  <a:srgbClr val="16A34A"/>
                </a:solidFill>
              </a:rPr>
              <a:t>Pilot</a:t>
            </a:r>
            <a:endParaRPr lang="en-US" sz="1000" dirty="0"/>
          </a:p>
        </p:txBody>
      </p:sp>
      <p:sp>
        <p:nvSpPr>
          <p:cNvPr id="15" name="Text 13"/>
          <p:cNvSpPr/>
          <p:nvPr/>
        </p:nvSpPr>
        <p:spPr>
          <a:xfrm>
            <a:off x="3246120" y="4306824"/>
            <a:ext cx="7040880" cy="658368"/>
          </a:xfrm>
          <a:prstGeom prst="rect">
            <a:avLst/>
          </a:prstGeom>
          <a:noFill/>
          <a:ln/>
        </p:spPr>
        <p:txBody>
          <a:bodyPr wrap="square" lIns="254" tIns="254" rIns="254" bIns="254" rtlCol="0" anchor="ctr">
            <a:normAutofit/>
          </a:bodyPr>
          <a:lstStyle/>
          <a:p>
            <a:pPr indent="0" marL="0">
              <a:buNone/>
            </a:pPr>
            <a:r>
              <a:rPr lang="en-US" sz="940" dirty="0">
                <a:solidFill>
                  <a:srgbClr val="182033"/>
                </a:solidFill>
              </a:rPr>
              <a:t>• 1 feature thật</a:t>
            </a:r>
            <a:endParaRPr lang="en-US" sz="940" dirty="0"/>
          </a:p>
          <a:p>
            <a:pPr indent="0" marL="0">
              <a:buNone/>
            </a:pPr>
            <a:r>
              <a:rPr lang="en-US" sz="940" dirty="0">
                <a:solidFill>
                  <a:srgbClr val="182033"/>
                </a:solidFill>
              </a:rPr>
              <a:t>• 3–5 màn hình</a:t>
            </a:r>
            <a:endParaRPr lang="en-US" sz="940" dirty="0"/>
          </a:p>
          <a:p>
            <a:pPr indent="0" marL="0">
              <a:buNone/>
            </a:pPr>
            <a:r>
              <a:rPr lang="en-US" sz="940" dirty="0">
                <a:solidFill>
                  <a:srgbClr val="182033"/>
                </a:solidFill>
              </a:rPr>
              <a:t>• Có form, lỗi, nhánh workflow</a:t>
            </a:r>
            <a:endParaRPr lang="en-US" sz="940" dirty="0"/>
          </a:p>
          <a:p>
            <a:pPr indent="0" marL="0">
              <a:buNone/>
            </a:pPr>
            <a:r>
              <a:rPr lang="en-US" sz="940" dirty="0">
                <a:solidFill>
                  <a:srgbClr val="182033"/>
                </a:solidFill>
              </a:rPr>
              <a:t>• Review và đo chất lượng</a:t>
            </a:r>
            <a:endParaRPr lang="en-US" sz="940" dirty="0"/>
          </a:p>
        </p:txBody>
      </p:sp>
      <p:sp>
        <p:nvSpPr>
          <p:cNvPr id="16" name="Text 14"/>
          <p:cNvSpPr/>
          <p:nvPr/>
        </p:nvSpPr>
        <p:spPr>
          <a:xfrm>
            <a:off x="914400" y="5349240"/>
            <a:ext cx="10149840" cy="320040"/>
          </a:xfrm>
          <a:prstGeom prst="rect">
            <a:avLst/>
          </a:prstGeom>
          <a:solidFill>
            <a:srgbClr val="FFFFFF"/>
          </a:solidFill>
          <a:ln w="12700">
            <a:solidFill>
              <a:srgbClr val="E5EAF3"/>
            </a:solidFill>
          </a:ln>
        </p:spPr>
        <p:txBody>
          <a:bodyPr wrap="square" lIns="762" tIns="762" rIns="762" bIns="762" rtlCol="0" anchor="t"/>
          <a:lstStyle/>
          <a:p>
            <a:pPr indent="0" marL="0">
              <a:buNone/>
            </a:pPr>
            <a:r>
              <a:rPr lang="en-US" sz="1150" b="1" dirty="0">
                <a:solidFill>
                  <a:srgbClr val="D97706"/>
                </a:solidFill>
              </a:rPr>
              <a:t>Tiêu chí pilot đạt</a:t>
            </a:r>
            <a:endParaRPr lang="en-US" sz="1150" dirty="0"/>
          </a:p>
        </p:txBody>
      </p:sp>
      <p:sp>
        <p:nvSpPr>
          <p:cNvPr id="17" name="Text 15"/>
          <p:cNvSpPr/>
          <p:nvPr/>
        </p:nvSpPr>
        <p:spPr>
          <a:xfrm>
            <a:off x="914400" y="5733288"/>
            <a:ext cx="10149840" cy="365760"/>
          </a:xfrm>
          <a:prstGeom prst="rect">
            <a:avLst/>
          </a:prstGeom>
          <a:solidFill>
            <a:srgbClr val="FFFFFF">
              <a:alpha val="0"/>
            </a:srgbClr>
          </a:solidFill>
          <a:ln>
            <a:solidFill>
              <a:srgbClr val="FFFFFF">
                <a:alpha val="0"/>
              </a:srgbClr>
            </a:solidFill>
          </a:ln>
        </p:spPr>
        <p:txBody>
          <a:bodyPr wrap="square" lIns="1016" tIns="1016" rIns="1016" bIns="1016" rtlCol="0" anchor="ctr">
            <a:normAutofit/>
          </a:bodyPr>
          <a:lstStyle/>
          <a:p>
            <a:pPr indent="0" marL="0">
              <a:buNone/>
            </a:pPr>
            <a:r>
              <a:rPr lang="en-US" sz="920" dirty="0">
                <a:solidFill>
                  <a:srgbClr val="5B667A"/>
                </a:solidFill>
              </a:rPr>
              <a:t>• BA/PO tạo được User Story + BPMN có review</a:t>
            </a:r>
            <a:endParaRPr lang="en-US" sz="920" dirty="0"/>
          </a:p>
          <a:p>
            <a:pPr indent="0" marL="0">
              <a:buNone/>
            </a:pPr>
            <a:r>
              <a:rPr lang="en-US" sz="920" dirty="0">
                <a:solidFill>
                  <a:srgbClr val="5B667A"/>
                </a:solidFill>
              </a:rPr>
              <a:t>• Designer Agent tạo được Penpot screen theo Design System</a:t>
            </a:r>
            <a:endParaRPr lang="en-US" sz="920" dirty="0"/>
          </a:p>
          <a:p>
            <a:pPr indent="0" marL="0">
              <a:buNone/>
            </a:pPr>
            <a:r>
              <a:rPr lang="en-US" sz="920" dirty="0">
                <a:solidFill>
                  <a:srgbClr val="5B667A"/>
                </a:solidFill>
              </a:rPr>
              <a:t>• Prototype đi được flow chính và ít nhất một flow lỗi</a:t>
            </a:r>
            <a:endParaRPr lang="en-US" sz="920" dirty="0"/>
          </a:p>
          <a:p>
            <a:pPr indent="0" marL="0">
              <a:buNone/>
            </a:pPr>
            <a:r>
              <a:rPr lang="en-US" sz="920" dirty="0">
                <a:solidFill>
                  <a:srgbClr val="5B667A"/>
                </a:solidFill>
              </a:rPr>
              <a:t>• Validation Agent phát hiện được lỗi logic hoặc UI có dẫn chứng</a:t>
            </a:r>
            <a:endParaRPr lang="en-US" sz="920" dirty="0"/>
          </a:p>
          <a:p>
            <a:pPr indent="0" marL="0">
              <a:buNone/>
            </a:pPr>
            <a:r>
              <a:rPr lang="en-US" sz="920" dirty="0">
                <a:solidFill>
                  <a:srgbClr val="5B667A"/>
                </a:solidFill>
              </a:rPr>
              <a:t>• Không phát sinh thêm nhiều file Markdown rời rạc cho Dev</a:t>
            </a:r>
            <a:endParaRPr lang="en-US" sz="920" dirty="0"/>
          </a:p>
        </p:txBody>
      </p:sp>
      <p:sp>
        <p:nvSpPr>
          <p:cNvPr id="18" name="Text 16"/>
          <p:cNvSpPr/>
          <p:nvPr/>
        </p:nvSpPr>
        <p:spPr>
          <a:xfrm>
            <a:off x="502920" y="6510528"/>
            <a:ext cx="6400800" cy="201168"/>
          </a:xfrm>
          <a:prstGeom prst="rect">
            <a:avLst/>
          </a:prstGeom>
          <a:noFill/>
          <a:ln/>
        </p:spPr>
        <p:txBody>
          <a:bodyPr wrap="square" lIns="0" tIns="0" rIns="0" bIns="0" rtlCol="0" anchor="ctr"/>
          <a:lstStyle/>
          <a:p>
            <a:pPr indent="0" marL="0">
              <a:buNone/>
            </a:pPr>
            <a:r>
              <a:rPr lang="en-US" sz="750" dirty="0">
                <a:solidFill>
                  <a:srgbClr val="8A94A6"/>
                </a:solidFill>
              </a:rPr>
              <a:t>Unify AI Product &amp; Design Factory MVP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Unify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Unify AI Product &amp; Design Factory MVP</dc:title>
  <dc:subject>Unify AI Product &amp; Design Factory MVP</dc:subject>
  <dc:creator>OpenAI</dc:creator>
  <cp:lastModifiedBy>OpenAI</cp:lastModifiedBy>
  <cp:revision>1</cp:revision>
  <dcterms:created xsi:type="dcterms:W3CDTF">2026-07-27T02:34:42Z</dcterms:created>
  <dcterms:modified xsi:type="dcterms:W3CDTF">2026-07-27T02:34:42Z</dcterms:modified>
</cp:coreProperties>
</file>